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INTEGRATED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Microsoft IQ Workshop Integrated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Track1 FabricIQ → Track2 WorkIQ → Track3 WebIQ → Track4 FoundryIQ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Microsoft_IQ_Workshop_Integrated_Plan_v3.0.md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72768"/>
            <a:ext cx="11128248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00200"/>
            <a:ext cx="107990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Cross-cutting controls · Security/ACL · Data lineage · Observability · Prompt guardrails · Compliance logging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313432"/>
            <a:ext cx="1993392" cy="3017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" y="2478024"/>
            <a:ext cx="43891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1002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843784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Source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346704"/>
            <a:ext cx="159105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ERP/CRM transactions
Campaign &amp; support events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51176" y="3630168"/>
            <a:ext cx="182880" cy="201168"/>
          </a:xfrm>
          <a:prstGeom prst="right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70632" y="2313432"/>
            <a:ext cx="1993392" cy="3017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35224" y="2478024"/>
            <a:ext cx="438912" cy="25603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5224" y="251002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843784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Track1 · FabricIQ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46704"/>
            <a:ext cx="159105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Lakehouse data model
Ontology contract
Mapping review + handoff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91456" y="3630168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0912" y="2313432"/>
            <a:ext cx="1993392" cy="3017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75504" y="2478024"/>
            <a:ext cx="438912" cy="256032"/>
          </a:xfrm>
          <a:prstGeom prst="roundRect">
            <a:avLst/>
          </a:prstGeom>
          <a:solidFill>
            <a:srgbClr val="15966A"/>
          </a:solidFill>
          <a:ln w="1270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251002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843784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Track2 · WorkIQ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346704"/>
            <a:ext cx="159105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M365 indexing
Evidence links + ACL
Quality gate: 6/8 PASS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31736" y="3630168"/>
            <a:ext cx="182880" cy="201168"/>
          </a:xfrm>
          <a:prstGeom prst="rightArrow">
            <a:avLst/>
          </a:prstGeom>
          <a:solidFill>
            <a:srgbClr val="159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51192" y="2313432"/>
            <a:ext cx="1993392" cy="3017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15784" y="2478024"/>
            <a:ext cx="438912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4" y="251002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843784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Track3 · WebIQ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346704"/>
            <a:ext cx="159105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Safe public query
URL citation + scope
Source quality + limitations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272016" y="3630168"/>
            <a:ext cx="182880" cy="201168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91472" y="2313432"/>
            <a:ext cx="1993392" cy="3017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56064" y="2478024"/>
            <a:ext cx="438912" cy="256032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6064" y="251002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843784"/>
            <a:ext cx="15910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033"/>
                </a:solidFill>
                <a:latin typeface="Aptos"/>
              </a:rPr>
              <a:t>Track4 · FoundryIQ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346704"/>
            <a:ext cx="1591056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Tool A/B/C routing
Fallback + strict evaluation
Executive response + 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5632704"/>
            <a:ext cx="11128248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5660136"/>
            <a:ext cx="107990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70" b="1">
                <a:solidFill>
                  <a:srgbClr val="FFFFFF"/>
                </a:solidFill>
                <a:latin typeface="Aptos"/>
              </a:rPr>
              <a:t>Output · Executive brief + traceable internal evidence + cited external evidence + prioritized action backlog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RUNTIME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194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6778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033"/>
                </a:solidFill>
                <a:latin typeface="Aptos"/>
              </a:rPr>
              <a:t>Detailed Runtime Orchestration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D6778"/>
                </a:solidFill>
                <a:latin typeface="Aptos"/>
              </a:rPr>
              <a:t>From business question intake to source-responsible response generation and audit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93A3"/>
                </a:solidFill>
                <a:latin typeface="Aptos"/>
              </a:rPr>
              <a:t>Source: AGENTS.md · track4/WORKBOOK.md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103120"/>
            <a:ext cx="1481328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331720"/>
            <a:ext cx="1078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1 ·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34639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778"/>
                </a:solidFill>
                <a:latin typeface="Aptos"/>
              </a:rPr>
              <a:t>Q1/Q2/Q3 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84831" y="2560320"/>
            <a:ext cx="228600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2103120"/>
            <a:ext cx="1572768" cy="1115568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2331720"/>
            <a:ext cx="1170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72033"/>
                </a:solidFill>
                <a:latin typeface="Aptos"/>
              </a:rPr>
              <a:t>2 ·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2834639"/>
            <a:ext cx="1170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D6778"/>
                </a:solidFill>
                <a:latin typeface="Aptos"/>
              </a:rPr>
              <a:t>Intent classify
semantic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29809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11680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72033"/>
                </a:solidFill>
                <a:latin typeface="Aptos"/>
              </a:rPr>
              <a:t>TOOL A · FABRICIQ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14600"/>
            <a:ext cx="2578608" cy="118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778"/>
                </a:solidFill>
                <a:latin typeface="Aptos"/>
              </a:rPr>
              <a:t>Metrics + structured sourceTrace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136392"/>
            <a:ext cx="29809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59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364992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72033"/>
                </a:solidFill>
                <a:latin typeface="Aptos"/>
              </a:rPr>
              <a:t>TOOL B · WORKIQ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867912"/>
            <a:ext cx="2578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778"/>
                </a:solidFill>
                <a:latin typeface="Aptos"/>
              </a:rPr>
              <a:t>ACL evidence + original links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4489704"/>
            <a:ext cx="29809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4718304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72033"/>
                </a:solidFill>
                <a:latin typeface="Aptos"/>
              </a:rPr>
              <a:t>TOOL C · WEBIQ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221224"/>
            <a:ext cx="25786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778"/>
                </a:solidFill>
                <a:latin typeface="Aptos"/>
              </a:rPr>
              <a:t>Public citations + scope + limits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23360" y="2560320"/>
            <a:ext cx="228600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388352" y="3291840"/>
            <a:ext cx="228600" cy="219456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9248" y="2148840"/>
            <a:ext cx="1645920" cy="2788920"/>
          </a:xfrm>
          <a:prstGeom prst="roundRect">
            <a:avLst/>
          </a:prstGeom>
          <a:solidFill>
            <a:srgbClr val="FFF1E3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0416" y="2377440"/>
            <a:ext cx="1243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3 · MERGE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6" y="2880360"/>
            <a:ext cx="1243584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5D6778"/>
                </a:solidFill>
                <a:latin typeface="Aptos"/>
              </a:rPr>
              <a:t>Preserve source responsibility
Add warnings and limitations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27464" y="3291840"/>
            <a:ext cx="228600" cy="219456"/>
          </a:xfrm>
          <a:prstGeom prst="rightArrow">
            <a:avLst/>
          </a:prstGeom>
          <a:solidFill>
            <a:srgbClr val="BE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47504" y="2148840"/>
            <a:ext cx="1874519" cy="2788920"/>
          </a:xfrm>
          <a:prstGeom prst="roundRect">
            <a:avLst/>
          </a:prstGeom>
          <a:solidFill>
            <a:srgbClr val="FCECEF"/>
          </a:solidFill>
          <a:ln w="13970">
            <a:solidFill>
              <a:srgbClr val="BE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2377440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4 · 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880360"/>
            <a:ext cx="1472184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778"/>
                </a:solidFill>
                <a:latin typeface="Aptos"/>
              </a:rPr>
              <a:t>PASS
PARTIAL
BLOCKED
Score +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705856"/>
            <a:ext cx="10817352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733288"/>
            <a:ext cx="104881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Aptos"/>
              </a:rPr>
              <a:t>Mandatory runtime gates · evidence validity · citation quality · traceability completeness · policy-compliant warnings · human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