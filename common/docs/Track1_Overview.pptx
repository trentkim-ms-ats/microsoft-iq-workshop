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58368" y="502920"/>
            <a:ext cx="1353312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512064"/>
            <a:ext cx="1261872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FFFFFF"/>
                </a:solidFill>
                <a:latin typeface="Arial"/>
              </a:rPr>
              <a:t>TRACK 1 · FABRICIQ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78992"/>
            <a:ext cx="1042416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4256" b="1">
                <a:solidFill>
                  <a:srgbClr val="FFFFFF"/>
                </a:solidFill>
                <a:latin typeface="Arial"/>
              </a:rPr>
              <a:t>정형 데이터에서 공통 의미 모델까지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47088"/>
            <a:ext cx="905256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92" b="0">
                <a:solidFill>
                  <a:srgbClr val="CBD5E1"/>
                </a:solidFill>
                <a:latin typeface="Arial"/>
              </a:rPr>
              <a:t>14개 Lakehouse 테이블을 프로파일링·표준화하고, Ontology 엔터티·관계·매핑을 검증해 Track2/3의 정형 기준 소스를 확정합니다.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" y="2962656"/>
            <a:ext cx="2331720" cy="1143000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6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3163824"/>
            <a:ext cx="207568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88" b="1">
                <a:solidFill>
                  <a:srgbClr val="AFC4FF"/>
                </a:solidFill>
                <a:latin typeface="Arial"/>
              </a:rPr>
              <a:t>150분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593592"/>
            <a:ext cx="2075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CBD5E1"/>
                </a:solidFill>
                <a:latin typeface="Arial"/>
              </a:rPr>
              <a:t>실습 140 + 휴식 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2962656"/>
            <a:ext cx="2331720" cy="1143000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6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9584" y="3163824"/>
            <a:ext cx="207568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88" b="1">
                <a:solidFill>
                  <a:srgbClr val="AFC4FF"/>
                </a:solidFill>
                <a:latin typeface="Arial"/>
              </a:rPr>
              <a:t>14 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9584" y="3593592"/>
            <a:ext cx="2075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CBD5E1"/>
                </a:solidFill>
                <a:latin typeface="Arial"/>
              </a:rPr>
              <a:t>Lakehouse 정형 데이터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2962656"/>
            <a:ext cx="2331720" cy="1143000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6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63055" y="3163824"/>
            <a:ext cx="207568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88" b="1">
                <a:solidFill>
                  <a:srgbClr val="AFC4FF"/>
                </a:solidFill>
                <a:latin typeface="Arial"/>
              </a:rPr>
              <a:t>14 /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63055" y="3593592"/>
            <a:ext cx="2075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CBD5E1"/>
                </a:solidFill>
                <a:latin typeface="Arial"/>
              </a:rPr>
              <a:t>권장 엔터티 / 관계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68512" y="2962656"/>
            <a:ext cx="2331720" cy="1143000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638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96528" y="3163824"/>
            <a:ext cx="2075688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2688" b="1">
                <a:solidFill>
                  <a:srgbClr val="AFC4FF"/>
                </a:solidFill>
                <a:latin typeface="Arial"/>
              </a:rPr>
              <a:t>1 handoff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96528" y="3593592"/>
            <a:ext cx="2075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CBD5E1"/>
                </a:solidFill>
                <a:latin typeface="Arial"/>
              </a:rPr>
              <a:t>Track2 입력 계약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" y="4617720"/>
            <a:ext cx="10561320" cy="914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4128" y="4828032"/>
            <a:ext cx="1417320" cy="25603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1D4ED8"/>
                </a:solidFill>
                <a:latin typeface="Arial"/>
              </a:rPr>
              <a:t>TRACK OUTCOME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754880"/>
            <a:ext cx="845820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검증 가능한 KPI와 관계 경로를 제공하는 FabricIQ 시맨틱 기반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94A3B8"/>
                </a:solidFill>
                <a:latin typeface="Arial"/>
              </a:rPr>
              <a:t>Source: track1/WORKBOOK.md · track1/data/README.md</a:t>
            </a:r>
          </a:p>
        </p:txBody>
      </p:sp>
      <p:sp>
        <p:nvSpPr>
          <p:cNvPr id="22" name="Oval 21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94A3B8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2563EB"/>
                </a:solidFill>
                <a:latin typeface="Arial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63EB"/>
                </a:solidFill>
                <a:latin typeface="Arial"/>
              </a:rPr>
              <a:t>ROLE &amp; DOD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111827"/>
                </a:solidFill>
                <a:latin typeface="Arial"/>
              </a:rPr>
              <a:t>Track1이 책임지는 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64748B"/>
                </a:solidFill>
                <a:latin typeface="Arial"/>
              </a:rPr>
              <a:t>Track1의 산출물은 데이터 정리가 아니라 FabricIQ가 계산하고 설명할 수 있는 신뢰 경계입니다.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64748B"/>
                </a:solidFill>
                <a:latin typeface="Arial"/>
              </a:rPr>
              <a:t>Source: AGENTS.md · track1/WORKBOOK.md §실습 목표/DoD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64748B"/>
                </a:solidFill>
                <a:latin typeface="Arial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737360"/>
            <a:ext cx="333756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04672" y="1920240"/>
            <a:ext cx="102412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1929384"/>
            <a:ext cx="932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40864"/>
            <a:ext cx="297180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정형 기준값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2651760"/>
            <a:ext cx="2971800" cy="9601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>
                <a:solidFill>
                  <a:srgbClr val="1F2937"/>
                </a:solidFill>
                <a:latin typeface="Arial"/>
              </a:rPr>
              <a:t>캠페인·주문·결제·배송·반품·재고 지표를 검증 가능한 SQL과 기준값으로 고정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5696" y="1737360"/>
            <a:ext cx="333756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608576" y="1920240"/>
            <a:ext cx="102412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4296" y="1929384"/>
            <a:ext cx="932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8576" y="2340864"/>
            <a:ext cx="297180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Ontology 공통 어휘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2651760"/>
            <a:ext cx="2971800" cy="9601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>
                <a:solidFill>
                  <a:srgbClr val="1F2937"/>
                </a:solidFill>
                <a:latin typeface="Arial"/>
              </a:rPr>
              <a:t>Customer · Order · Product 등 엔터티와 관계 방향·카디널리티를 3-IQ 공통 언어로 정의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0" y="1737360"/>
            <a:ext cx="3337560" cy="1965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12480" y="1920240"/>
            <a:ext cx="102412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1929384"/>
            <a:ext cx="932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2340864"/>
            <a:ext cx="297180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추적 가능한 매핑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651760"/>
            <a:ext cx="2971800" cy="9601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>
                <a:solidFill>
                  <a:srgbClr val="1F2937"/>
                </a:solidFill>
                <a:latin typeface="Arial"/>
              </a:rPr>
              <a:t>원천 컬럼 → 표준 컬럼 → Ontology 속성의 변환과 lineage를 문서화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169663"/>
            <a:ext cx="10561320" cy="129844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407408"/>
            <a:ext cx="192024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92" b="1">
                <a:solidFill>
                  <a:srgbClr val="1D4ED8"/>
                </a:solidFill>
                <a:latin typeface="Arial"/>
              </a:rPr>
              <a:t>Definition of Done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370832"/>
            <a:ext cx="384048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엔터티 10–16 · 관계 15–25  |  권장 모델 14 /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370832"/>
            <a:ext cx="41605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3단 매핑 100%  |  검증 쿼리 3종  |  오류 목록 제출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8992" y="4956048"/>
            <a:ext cx="978408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DC2626"/>
                </a:solidFill>
                <a:latin typeface="Arial"/>
              </a:rPr>
              <a:t>금지: WorkIQ 문서에서 정형 수치를 역산하거나 검증되지 않은 계산을 기준값으로 취급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2563EB"/>
                </a:solidFill>
                <a:latin typeface="Arial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63EB"/>
                </a:solidFill>
                <a:latin typeface="Arial"/>
              </a:rPr>
              <a:t>DATA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111827"/>
                </a:solidFill>
                <a:latin typeface="Arial"/>
              </a:rPr>
              <a:t>14개 테이블과 다중 홉 분석 경로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64748B"/>
                </a:solidFill>
                <a:latin typeface="Arial"/>
              </a:rPr>
              <a:t>업무 도메인을 끊어진 표가 아니라 질문 중심의 관계 구조로 연결합니다.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64748B"/>
                </a:solidFill>
                <a:latin typeface="Arial"/>
              </a:rPr>
              <a:t>Source: track1/data/README.md §1–6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64748B"/>
                </a:solidFill>
                <a:latin typeface="Arial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737360"/>
            <a:ext cx="260604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60" y="1956816"/>
            <a:ext cx="1234440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65960"/>
            <a:ext cx="114300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MASTER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523744"/>
            <a:ext cx="2203704" cy="9326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F2937"/>
                </a:solidFill>
                <a:latin typeface="Arial"/>
              </a:rPr>
              <a:t>Customer · Product · Channel
Campaign · Promotion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737360"/>
            <a:ext cx="260604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02736" y="1956816"/>
            <a:ext cx="1234440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48456" y="1965960"/>
            <a:ext cx="114300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TRANSACTION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02736" y="2523744"/>
            <a:ext cx="2203704" cy="9326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F2937"/>
                </a:solidFill>
                <a:latin typeface="Arial"/>
              </a:rPr>
              <a:t>Order · OrderItem · Payment
CampaignAttribution · OrderPromotion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737360"/>
            <a:ext cx="2606040" cy="2148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82512" y="1956816"/>
            <a:ext cx="1234440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28231" y="1965960"/>
            <a:ext cx="114300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523744"/>
            <a:ext cx="2203704" cy="9326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F2937"/>
                </a:solidFill>
                <a:latin typeface="Arial"/>
              </a:rPr>
              <a:t>Shipment · Return
InventorySnapshot · SupportTicket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1737360"/>
            <a:ext cx="2606040" cy="2148840"/>
          </a:xfrm>
          <a:prstGeom prst="roundRect">
            <a:avLst/>
          </a:prstGeom>
          <a:solidFill>
            <a:srgbClr val="F1F5F9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62288" y="1956816"/>
            <a:ext cx="1234440" cy="310896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1965960"/>
            <a:ext cx="114300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QUESTION MAP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62288" y="2523744"/>
            <a:ext cx="2203704" cy="93268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F2937"/>
                </a:solidFill>
                <a:latin typeface="Arial"/>
              </a:rPr>
              <a:t>Q1 결제/전환 · Q2 배송/반품
Q3 프로모션 · Q4 재고 · Q5 채널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4343400"/>
            <a:ext cx="10561320" cy="1188720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8992" y="4572000"/>
            <a:ext cx="14173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AFC4FF"/>
                </a:solidFill>
                <a:latin typeface="Arial"/>
              </a:rPr>
              <a:t>대표 관계 경로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4498848"/>
            <a:ext cx="370332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>
                <a:solidFill>
                  <a:srgbClr val="FFFFFF"/>
                </a:solidFill>
                <a:latin typeface="Arial"/>
              </a:rPr>
              <a:t>Campaign → CampaignAttribution → Order → Payment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498848"/>
            <a:ext cx="352044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>
                <a:solidFill>
                  <a:srgbClr val="FFFFFF"/>
                </a:solidFill>
                <a:latin typeface="Arial"/>
              </a:rPr>
              <a:t>Order → Shipment / Return / SupportTicket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0" y="4937760"/>
            <a:ext cx="75895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>
                <a:solidFill>
                  <a:srgbClr val="CBD5E1"/>
                </a:solidFill>
                <a:latin typeface="Arial"/>
              </a:rPr>
              <a:t>브릿지 N:M: OrderPromotion · CampaignAttribution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2563EB"/>
                </a:solidFill>
                <a:latin typeface="Arial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63EB"/>
                </a:solidFill>
                <a:latin typeface="Arial"/>
              </a:rPr>
              <a:t>MISSION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111827"/>
                </a:solidFill>
                <a:latin typeface="Arial"/>
              </a:rPr>
              <a:t>140분 실습 + 10분 휴식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64748B"/>
                </a:solidFill>
                <a:latin typeface="Arial"/>
              </a:rPr>
              <a:t>질문을 먼저 고정하고, 데이터 품질과 의미 모델을 단계적으로 확정합니다.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64748B"/>
                </a:solidFill>
                <a:latin typeface="Arial"/>
              </a:rPr>
              <a:t>Source: track1/WORKBOOK.md §단계별 미션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64748B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93392"/>
            <a:ext cx="1642872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157984"/>
            <a:ext cx="749808" cy="310896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67128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10분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96896"/>
            <a:ext cx="1313687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M1 · 질문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80944"/>
            <a:ext cx="1313687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64748B"/>
                </a:solidFill>
                <a:latin typeface="Arial"/>
              </a:rPr>
              <a:t>Q1–Q5
질문–테이블 연결</a:t>
            </a:r>
          </a:p>
        </p:txBody>
      </p:sp>
      <p:sp>
        <p:nvSpPr>
          <p:cNvPr id="14" name="Chevron 13"/>
          <p:cNvSpPr/>
          <p:nvPr/>
        </p:nvSpPr>
        <p:spPr>
          <a:xfrm>
            <a:off x="2237231" y="2724912"/>
            <a:ext cx="182880" cy="347472"/>
          </a:xfrm>
          <a:prstGeom prst="chevron">
            <a:avLst/>
          </a:prstGeom>
          <a:solidFill>
            <a:srgbClr val="2563EB"/>
          </a:solidFill>
          <a:ln w="50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447544" y="1993392"/>
            <a:ext cx="1642872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612136" y="2157984"/>
            <a:ext cx="74980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7856" y="2167128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30분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12136" y="2596896"/>
            <a:ext cx="1313687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M2 · 프로파일링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2136" y="2980944"/>
            <a:ext cx="1313687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64748B"/>
                </a:solidFill>
                <a:latin typeface="Arial"/>
              </a:rPr>
              <a:t>결측·중복·FK
이상값 탐지</a:t>
            </a:r>
          </a:p>
        </p:txBody>
      </p:sp>
      <p:sp>
        <p:nvSpPr>
          <p:cNvPr id="20" name="Chevron 19"/>
          <p:cNvSpPr/>
          <p:nvPr/>
        </p:nvSpPr>
        <p:spPr>
          <a:xfrm>
            <a:off x="4117848" y="2724912"/>
            <a:ext cx="182880" cy="347472"/>
          </a:xfrm>
          <a:prstGeom prst="chevron">
            <a:avLst/>
          </a:prstGeom>
          <a:solidFill>
            <a:srgbClr val="2563EB"/>
          </a:solidFill>
          <a:ln w="50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28160" y="1993392"/>
            <a:ext cx="1642872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492752" y="2157984"/>
            <a:ext cx="74980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8472" y="2167128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30분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92752" y="2596896"/>
            <a:ext cx="1313687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M3 · 표준화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2752" y="2980944"/>
            <a:ext cx="1313687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64748B"/>
                </a:solidFill>
                <a:latin typeface="Arial"/>
              </a:rPr>
              <a:t>키·타입·코드
날짜·통화 규칙</a:t>
            </a:r>
          </a:p>
        </p:txBody>
      </p:sp>
      <p:sp>
        <p:nvSpPr>
          <p:cNvPr id="26" name="Chevron 25"/>
          <p:cNvSpPr/>
          <p:nvPr/>
        </p:nvSpPr>
        <p:spPr>
          <a:xfrm>
            <a:off x="5998464" y="2724912"/>
            <a:ext cx="182880" cy="347472"/>
          </a:xfrm>
          <a:prstGeom prst="chevron">
            <a:avLst/>
          </a:prstGeom>
          <a:solidFill>
            <a:srgbClr val="2563EB"/>
          </a:solidFill>
          <a:ln w="50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208776" y="1993392"/>
            <a:ext cx="1642872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73368" y="2157984"/>
            <a:ext cx="74980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2167128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20분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3368" y="2596896"/>
            <a:ext cx="1313687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M4-A · Ontology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73368" y="2980944"/>
            <a:ext cx="1313687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64748B"/>
                </a:solidFill>
                <a:latin typeface="Arial"/>
              </a:rPr>
              <a:t>엔터티·관계
초안 설계</a:t>
            </a:r>
          </a:p>
        </p:txBody>
      </p:sp>
      <p:sp>
        <p:nvSpPr>
          <p:cNvPr id="32" name="Chevron 31"/>
          <p:cNvSpPr/>
          <p:nvPr/>
        </p:nvSpPr>
        <p:spPr>
          <a:xfrm>
            <a:off x="7879079" y="2724912"/>
            <a:ext cx="182880" cy="347472"/>
          </a:xfrm>
          <a:prstGeom prst="chevron">
            <a:avLst/>
          </a:prstGeom>
          <a:solidFill>
            <a:srgbClr val="2563EB"/>
          </a:solidFill>
          <a:ln w="50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089391" y="1993392"/>
            <a:ext cx="1642872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253983" y="2157984"/>
            <a:ext cx="74980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99704" y="2167128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10분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53983" y="2596896"/>
            <a:ext cx="1313687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BREAK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53983" y="2980944"/>
            <a:ext cx="1313687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64748B"/>
                </a:solidFill>
                <a:latin typeface="Arial"/>
              </a:rPr>
              <a:t>11:05–11:15
실습 중단점</a:t>
            </a:r>
          </a:p>
        </p:txBody>
      </p:sp>
      <p:sp>
        <p:nvSpPr>
          <p:cNvPr id="38" name="Chevron 37"/>
          <p:cNvSpPr/>
          <p:nvPr/>
        </p:nvSpPr>
        <p:spPr>
          <a:xfrm>
            <a:off x="9759695" y="2724912"/>
            <a:ext cx="182880" cy="347472"/>
          </a:xfrm>
          <a:prstGeom prst="chevron">
            <a:avLst/>
          </a:prstGeom>
          <a:solidFill>
            <a:srgbClr val="2563EB"/>
          </a:solidFill>
          <a:ln w="50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970008" y="1993392"/>
            <a:ext cx="1642872" cy="187451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0134599" y="2157984"/>
            <a:ext cx="74980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80320" y="2167128"/>
            <a:ext cx="65836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Arial"/>
              </a:rPr>
              <a:t>50분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34599" y="2596896"/>
            <a:ext cx="1313687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568" b="1">
                <a:solidFill>
                  <a:srgbClr val="111827"/>
                </a:solidFill>
                <a:latin typeface="Arial"/>
              </a:rPr>
              <a:t>M4-B + M5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34599" y="2980944"/>
            <a:ext cx="1313687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0">
                <a:solidFill>
                  <a:srgbClr val="64748B"/>
                </a:solidFill>
                <a:latin typeface="Arial"/>
              </a:rPr>
              <a:t>관계 완성
매핑·검증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24128" y="4709160"/>
            <a:ext cx="10104120" cy="8412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61872" y="4937760"/>
            <a:ext cx="128016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1D4ED8"/>
                </a:solidFill>
                <a:latin typeface="Arial"/>
              </a:rPr>
              <a:t>CHECKPOINTS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670048" y="4882896"/>
            <a:ext cx="8101583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11827"/>
                </a:solidFill>
                <a:latin typeface="Arial"/>
              </a:rPr>
              <a:t>T+20 프로파일링 시작  ·  T+60 표준 스키마 초안  ·  T+130 매핑 70% + 검증 쿼리 실행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2563EB"/>
                </a:solidFill>
                <a:latin typeface="Arial"/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63EB"/>
                </a:solidFill>
                <a:latin typeface="Arial"/>
              </a:rPr>
              <a:t>DATA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111827"/>
                </a:solidFill>
                <a:latin typeface="Arial"/>
              </a:rPr>
              <a:t>프로파일링 → 표준화 → R1–R8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64748B"/>
                </a:solidFill>
                <a:latin typeface="Arial"/>
              </a:rPr>
              <a:t>의도된 노이즈를 숨기지 않고, 무엇을 수정했고 무엇을 이슈로 인계하는지 구분합니다.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64748B"/>
                </a:solidFill>
                <a:latin typeface="Arial"/>
              </a:rPr>
              <a:t>Source: track1/data/README.md §4–6 · track1/WORKBOOK.md M2/M3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64748B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55648"/>
            <a:ext cx="338328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22959" y="1938528"/>
            <a:ext cx="102412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47672"/>
            <a:ext cx="932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PROFILE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2359152"/>
            <a:ext cx="30175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찾아야 하는 이슈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2670048"/>
            <a:ext cx="3017520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>
                <a:solidFill>
                  <a:srgbClr val="1F2937"/>
                </a:solidFill>
                <a:latin typeface="Arial"/>
              </a:rPr>
              <a:t>FK 고아 · PK 중복 · NULL
음수/0 이상값 · 코드셋 불일치
금액 합계·순액·귀속 불일치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1755648"/>
            <a:ext cx="338328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0288" y="1938528"/>
            <a:ext cx="102412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36008" y="1947672"/>
            <a:ext cx="932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59152"/>
            <a:ext cx="30175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표준 스키마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670048"/>
            <a:ext cx="3017520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>
                <a:solidFill>
                  <a:srgbClr val="1F2937"/>
                </a:solidFill>
                <a:latin typeface="Arial"/>
              </a:rPr>
              <a:t>키 이름·타입 통일
주문/결제/배송 상태코드 정렬
Date와 DateTime·KRW 규칙 명시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74736" y="1755648"/>
            <a:ext cx="3383280" cy="2057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357615" y="1938528"/>
            <a:ext cx="102412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3336" y="1947672"/>
            <a:ext cx="932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EVIDENCE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7615" y="2359152"/>
            <a:ext cx="3017520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제출 증적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7615" y="2670048"/>
            <a:ext cx="3017520" cy="1051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>
                <a:solidFill>
                  <a:srgbClr val="1F2937"/>
                </a:solidFill>
                <a:latin typeface="Arial"/>
              </a:rPr>
              <a:t>프로파일링 결과표
변환 규칙·코드 매핑표
재실행 가능한 검증 SQL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" y="4224528"/>
            <a:ext cx="10561320" cy="129844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453128"/>
            <a:ext cx="987552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792" b="1">
                <a:solidFill>
                  <a:srgbClr val="1D4ED8"/>
                </a:solidFill>
                <a:latin typeface="Arial"/>
              </a:rPr>
              <a:t>R1–R8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4407408"/>
            <a:ext cx="3950208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참조무결성 · PK 유일성 · NOT NULL · 유효범위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4407408"/>
            <a:ext cx="3886200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11827"/>
                </a:solidFill>
                <a:latin typeface="Arial"/>
              </a:rPr>
              <a:t>코드셋 · 금액 · 순액 · 귀속 합계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4937760"/>
            <a:ext cx="804672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DC2626"/>
                </a:solidFill>
                <a:latin typeface="Arial"/>
              </a:rPr>
              <a:t>검출 기대: FK 고아 2건 · PK 중복 1건 · 금액 불일치 2건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2563EB"/>
                </a:solidFill>
                <a:latin typeface="Arial"/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63EB"/>
                </a:solidFill>
                <a:latin typeface="Arial"/>
              </a:rPr>
              <a:t>ONTOLOGY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111827"/>
                </a:solidFill>
                <a:latin typeface="Arial"/>
              </a:rPr>
              <a:t>권장 모델: 14 엔터티 · 20 관계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64748B"/>
                </a:solidFill>
                <a:latin typeface="Arial"/>
              </a:rPr>
              <a:t>17개 물리 관계와 3개 논리 관계를 정의 번들 하나의 계약으로 관리합니다.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64748B"/>
                </a:solidFill>
                <a:latin typeface="Arial"/>
              </a:rPr>
              <a:t>Source: track1/WORKBOOK.md M4 · track1/ontology_bundle/README.md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64748B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1737360"/>
            <a:ext cx="2606040" cy="1508760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8" y="1956816"/>
            <a:ext cx="1261872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1965960"/>
            <a:ext cx="1170431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FFFFFF"/>
                </a:solidFill>
                <a:latin typeface="Arial"/>
              </a:rPr>
              <a:t>COMMERCIAL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450592"/>
            <a:ext cx="216712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66" b="1">
                <a:solidFill>
                  <a:srgbClr val="111827"/>
                </a:solidFill>
                <a:latin typeface="Arial"/>
              </a:rPr>
              <a:t>Customer · Product · Channel
Campaign · Promotion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737360"/>
            <a:ext cx="2606040" cy="1508760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621024" y="1956816"/>
            <a:ext cx="1261872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6744" y="1965960"/>
            <a:ext cx="1170431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FFFFFF"/>
                </a:solidFill>
                <a:latin typeface="Arial"/>
              </a:rPr>
              <a:t>ORDER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21024" y="2450592"/>
            <a:ext cx="216712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66" b="1">
                <a:solidFill>
                  <a:srgbClr val="111827"/>
                </a:solidFill>
                <a:latin typeface="Arial"/>
              </a:rPr>
              <a:t>Order · OrderItem · Payment
Shipment · Return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737360"/>
            <a:ext cx="2606040" cy="1508760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1956816"/>
            <a:ext cx="1261872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965960"/>
            <a:ext cx="1170431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FFFFFF"/>
                </a:solidFill>
                <a:latin typeface="Arial"/>
              </a:rPr>
              <a:t>OPERATIONS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50592"/>
            <a:ext cx="216712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66" b="1">
                <a:solidFill>
                  <a:srgbClr val="111827"/>
                </a:solidFill>
                <a:latin typeface="Arial"/>
              </a:rPr>
              <a:t>InventorySnapshot
SupportTicket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61120" y="1737360"/>
            <a:ext cx="2606040" cy="1508760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80576" y="1956816"/>
            <a:ext cx="1261872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26296" y="1965960"/>
            <a:ext cx="1170431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FFFFFF"/>
                </a:solidFill>
                <a:latin typeface="Arial"/>
              </a:rPr>
              <a:t>BRIDGE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0576" y="2450592"/>
            <a:ext cx="2167128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66" b="1">
                <a:solidFill>
                  <a:srgbClr val="111827"/>
                </a:solidFill>
                <a:latin typeface="Arial"/>
              </a:rPr>
              <a:t>CampaignAttribution
OrderPromotion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" y="3639312"/>
            <a:ext cx="6784848" cy="16276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0704" y="3840480"/>
            <a:ext cx="16002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D4ED8"/>
                </a:solidFill>
                <a:latin typeface="Arial"/>
              </a:rPr>
              <a:t>관계 설계 원칙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" y="4315968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11827"/>
                </a:solidFill>
                <a:latin typeface="Arial"/>
              </a:rPr>
              <a:t>방향(From→To) + 카디널리티 필수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24528" y="4315968"/>
            <a:ext cx="283464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11827"/>
                </a:solidFill>
                <a:latin typeface="Arial"/>
              </a:rPr>
              <a:t>재시도 결제: Order 1:N Payment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" y="4718304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11827"/>
                </a:solidFill>
                <a:latin typeface="Arial"/>
              </a:rPr>
              <a:t>캠페인 귀속: Campaign N:M Order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24528" y="4718304"/>
            <a:ext cx="283464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11827"/>
                </a:solidFill>
                <a:latin typeface="Arial"/>
              </a:rPr>
              <a:t>논리 경로: Customer N:M Product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73568" y="3639312"/>
            <a:ext cx="3383280" cy="1627632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3858768"/>
            <a:ext cx="2697480" cy="31089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FFFFFF"/>
                </a:solidFill>
                <a:latin typeface="Arial"/>
              </a:rPr>
              <a:t>Ontology bundle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0" y="4370832"/>
            <a:ext cx="2697480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CBD5E1"/>
                </a:solidFill>
                <a:latin typeface="Arial"/>
              </a:rPr>
              <a:t>ontology_contract.yaml
full → core fallback
정의/관계/매핑 검증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2563EB"/>
                </a:solidFill>
                <a:latin typeface="Arial"/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2563EB"/>
                </a:solidFill>
                <a:latin typeface="Arial"/>
              </a:rPr>
              <a:t>MAPPING &amp;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111827"/>
                </a:solidFill>
                <a:latin typeface="Arial"/>
              </a:rPr>
              <a:t>원천 → 표준 → Ontology를 증적으로 연결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64748B"/>
                </a:solidFill>
                <a:latin typeface="Arial"/>
              </a:rPr>
              <a:t>수치의 계산 근거와 의미 경로가 서로 다른 문서에 흩어지지 않도록 한 번에 검증합니다.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64748B"/>
                </a:solidFill>
                <a:latin typeface="Arial"/>
              </a:rPr>
              <a:t>Source: track1/WORKBOOK.md M5 · Data Structure Guide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64748B"/>
                </a:solidFill>
                <a:latin typeface="Arial"/>
              </a:rP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83080"/>
            <a:ext cx="2743200" cy="1481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87552" y="1993392"/>
            <a:ext cx="1097280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2002536"/>
            <a:ext cx="1005839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542032"/>
            <a:ext cx="2267712" cy="4937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11827"/>
                </a:solidFill>
                <a:latin typeface="Arial"/>
              </a:rPr>
              <a:t>orders.order_status
payments.payment_status</a:t>
            </a:r>
          </a:p>
        </p:txBody>
      </p:sp>
      <p:sp>
        <p:nvSpPr>
          <p:cNvPr id="13" name="Chevron 12"/>
          <p:cNvSpPr/>
          <p:nvPr/>
        </p:nvSpPr>
        <p:spPr>
          <a:xfrm>
            <a:off x="3657600" y="2286000"/>
            <a:ext cx="347472" cy="475488"/>
          </a:xfrm>
          <a:prstGeom prst="chevron">
            <a:avLst/>
          </a:prstGeom>
          <a:solidFill>
            <a:srgbClr val="2563EB"/>
          </a:solidFill>
          <a:ln w="50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069080" y="1783080"/>
            <a:ext cx="2743200" cy="148132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06824" y="1993392"/>
            <a:ext cx="1097280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52544" y="2002536"/>
            <a:ext cx="1005839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STANDARD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06824" y="2542032"/>
            <a:ext cx="2267712" cy="4937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11827"/>
                </a:solidFill>
                <a:latin typeface="Arial"/>
              </a:rPr>
              <a:t>ORDER_STATUS
PAYMENT_STATUS</a:t>
            </a:r>
          </a:p>
        </p:txBody>
      </p:sp>
      <p:sp>
        <p:nvSpPr>
          <p:cNvPr id="18" name="Chevron 17"/>
          <p:cNvSpPr/>
          <p:nvPr/>
        </p:nvSpPr>
        <p:spPr>
          <a:xfrm>
            <a:off x="6976872" y="2286000"/>
            <a:ext cx="347472" cy="475488"/>
          </a:xfrm>
          <a:prstGeom prst="chevron">
            <a:avLst/>
          </a:prstGeom>
          <a:solidFill>
            <a:srgbClr val="2563EB"/>
          </a:solidFill>
          <a:ln w="508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88352" y="1783080"/>
            <a:ext cx="2743200" cy="1481328"/>
          </a:xfrm>
          <a:prstGeom prst="roundRect">
            <a:avLst/>
          </a:prstGeom>
          <a:solidFill>
            <a:srgbClr val="EEF4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26096" y="1993392"/>
            <a:ext cx="1097280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71816" y="2002536"/>
            <a:ext cx="1005839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ONTOLOGY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6096" y="2542032"/>
            <a:ext cx="2267712" cy="493776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11827"/>
                </a:solidFill>
                <a:latin typeface="Arial"/>
              </a:rPr>
              <a:t>Order.order_status
Payment.payment_status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17720" y="3401568"/>
            <a:ext cx="2944368" cy="310896"/>
          </a:xfrm>
          <a:prstGeom prst="roundRect">
            <a:avLst/>
          </a:prstGeom>
          <a:solidFill>
            <a:srgbClr val="111827"/>
          </a:solidFill>
          <a:ln w="1016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0" y="3410712"/>
            <a:ext cx="285292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76" b="1">
                <a:solidFill>
                  <a:srgbClr val="FFFFFF"/>
                </a:solidFill>
                <a:latin typeface="Arial"/>
              </a:rPr>
              <a:t>FULL COVERAGE · X / X = 100%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8" y="3822191"/>
            <a:ext cx="3310128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2688" y="4005072"/>
            <a:ext cx="102412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" y="4014215"/>
            <a:ext cx="932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QUERY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4425696"/>
            <a:ext cx="2944368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참조 무결성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736592"/>
            <a:ext cx="2944368" cy="5029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>
                <a:solidFill>
                  <a:srgbClr val="1F2937"/>
                </a:solidFill>
                <a:latin typeface="Arial"/>
              </a:rPr>
              <a:t>FK 고아 2건 검출
부모·자식 키 경로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07408" y="3822191"/>
            <a:ext cx="3310128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90288" y="4005072"/>
            <a:ext cx="102412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36008" y="4014215"/>
            <a:ext cx="932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QUERY 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0288" y="4425696"/>
            <a:ext cx="2944368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코드 유효성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4736592"/>
            <a:ext cx="2944368" cy="5029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>
                <a:solidFill>
                  <a:srgbClr val="1F2937"/>
                </a:solidFill>
                <a:latin typeface="Arial"/>
              </a:rPr>
              <a:t>주문·결제·배송 상태
표준 코드셋 비교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65008" y="3822191"/>
            <a:ext cx="3310128" cy="15087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DE3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247888" y="4005072"/>
            <a:ext cx="102412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3608" y="4014215"/>
            <a:ext cx="93268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64" b="1">
                <a:solidFill>
                  <a:srgbClr val="FFFFFF"/>
                </a:solidFill>
                <a:latin typeface="Arial"/>
              </a:rPr>
              <a:t>QUERY 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47888" y="4425696"/>
            <a:ext cx="2944368" cy="329184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680" b="1">
                <a:solidFill>
                  <a:srgbClr val="111827"/>
                </a:solidFill>
                <a:latin typeface="Arial"/>
              </a:rPr>
              <a:t>중복·결측·금액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47888" y="4736592"/>
            <a:ext cx="2944368" cy="5029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0">
                <a:solidFill>
                  <a:srgbClr val="1F2937"/>
                </a:solidFill>
                <a:latin typeface="Arial"/>
              </a:rPr>
              <a:t>PK 중복 1건
금액 불일치 2건 목록화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438912" cy="32004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32" b="1">
                <a:solidFill>
                  <a:srgbClr val="AFC4FF"/>
                </a:solidFill>
                <a:latin typeface="Arial"/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56032"/>
            <a:ext cx="4114800" cy="29260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20" b="1">
                <a:solidFill>
                  <a:srgbClr val="AFC4FF"/>
                </a:solidFill>
                <a:latin typeface="Arial"/>
              </a:rPr>
              <a:t>TRACK2 HANDOFF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64240" cy="56692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3248" b="1">
                <a:solidFill>
                  <a:srgbClr val="FFFFFF"/>
                </a:solidFill>
                <a:latin typeface="Arial"/>
              </a:rPr>
              <a:t>Track1 종료는 다음 트랙의 시작 계약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124712"/>
            <a:ext cx="10881360" cy="38404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0">
                <a:solidFill>
                  <a:srgbClr val="CBD5E1"/>
                </a:solidFill>
                <a:latin typeface="Arial"/>
              </a:rPr>
              <a:t>Track2가 첫 5분 안에 검수할 수 있도록 식별자·모델·매핑·이슈·검색 키를 패키지로 제출합니다.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 anchor="b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52" b="0">
                <a:solidFill>
                  <a:srgbClr val="94A3B8"/>
                </a:solidFill>
                <a:latin typeface="Arial"/>
              </a:rPr>
              <a:t>Source: track1/WORKBOOK.md TRACK2_HANDOFF_PACKAGE · track2/WORKBOOK.md M1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6547104"/>
            <a:ext cx="91440" cy="91440"/>
          </a:xfrm>
          <a:prstGeom prst="ellipse">
            <a:avLst/>
          </a:prstGeom>
          <a:solidFill>
            <a:srgbClr val="2563EB"/>
          </a:solidFill>
          <a:ln w="2032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3152" y="6473952"/>
            <a:ext cx="256032" cy="2011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008" b="1">
                <a:solidFill>
                  <a:srgbClr val="94A3B8"/>
                </a:solidFill>
                <a:latin typeface="Arial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755648"/>
            <a:ext cx="3364992" cy="1170432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D4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38528"/>
            <a:ext cx="93268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947672"/>
            <a:ext cx="84124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5" b="1">
                <a:solidFill>
                  <a:srgbClr val="FFFFFF"/>
                </a:solidFill>
                <a:latin typeface="Arial"/>
              </a:rPr>
              <a:t>IDENTITY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79" y="1938528"/>
            <a:ext cx="184708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FFFFFF"/>
                </a:solidFill>
                <a:latin typeface="Arial"/>
              </a:rPr>
              <a:t>WORKSPACE_ID
ONTOLOGY_ID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0560" y="1755648"/>
            <a:ext cx="3364992" cy="1170432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D4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663440" y="1938528"/>
            <a:ext cx="93268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1947672"/>
            <a:ext cx="84124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5" b="1">
                <a:solidFill>
                  <a:srgbClr val="FFFFFF"/>
                </a:solidFill>
                <a:latin typeface="Arial"/>
              </a:rPr>
              <a:t>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42432" y="1938528"/>
            <a:ext cx="184708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FFFFFF"/>
                </a:solidFill>
                <a:latin typeface="Arial"/>
              </a:rPr>
              <a:t>엔터티/관계 수
핵심 경로 3개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11312" y="1755648"/>
            <a:ext cx="3364992" cy="1170432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D4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94192" y="1938528"/>
            <a:ext cx="93268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9912" y="1947672"/>
            <a:ext cx="84124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5" b="1">
                <a:solidFill>
                  <a:srgbClr val="FFFFFF"/>
                </a:solidFill>
                <a:latin typeface="Arial"/>
              </a:rPr>
              <a:t>MAPPING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73184" y="1938528"/>
            <a:ext cx="184708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FFFFFF"/>
                </a:solidFill>
                <a:latin typeface="Arial"/>
              </a:rPr>
              <a:t>Entity → table.column
핵심 매핑 5개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3236976"/>
            <a:ext cx="3364992" cy="1170432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D4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32688" y="3419856"/>
            <a:ext cx="93268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8408" y="3429000"/>
            <a:ext cx="84124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5" b="1">
                <a:solidFill>
                  <a:srgbClr val="FFFFFF"/>
                </a:solidFill>
                <a:latin typeface="Arial"/>
              </a:rPr>
              <a:t>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79" y="3419856"/>
            <a:ext cx="184708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FFFFFF"/>
                </a:solidFill>
                <a:latin typeface="Arial"/>
              </a:rPr>
              <a:t>캠페인·상품·등급
WorkIQ 키워드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80560" y="3236976"/>
            <a:ext cx="3364992" cy="1170432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D4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63440" y="3419856"/>
            <a:ext cx="93268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09160" y="3429000"/>
            <a:ext cx="84124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5" b="1">
                <a:solidFill>
                  <a:srgbClr val="FFFFFF"/>
                </a:solidFill>
                <a:latin typeface="Arial"/>
              </a:rPr>
              <a:t>ISSUES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42432" y="3419856"/>
            <a:ext cx="184708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FFFFFF"/>
                </a:solidFill>
                <a:latin typeface="Arial"/>
              </a:rPr>
              <a:t>품질 이슈 Top3
영향 + 우회안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11312" y="3236976"/>
            <a:ext cx="3364992" cy="1170432"/>
          </a:xfrm>
          <a:prstGeom prst="roundRect">
            <a:avLst/>
          </a:prstGeom>
          <a:solidFill>
            <a:srgbClr val="111C31"/>
          </a:solidFill>
          <a:ln w="10160">
            <a:solidFill>
              <a:srgbClr val="2D4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394192" y="3419856"/>
            <a:ext cx="932688" cy="310896"/>
          </a:xfrm>
          <a:prstGeom prst="roundRect">
            <a:avLst/>
          </a:prstGeom>
          <a:solidFill>
            <a:srgbClr val="2563EB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3429000"/>
            <a:ext cx="841248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985" b="1">
                <a:solidFill>
                  <a:srgbClr val="FFFFFF"/>
                </a:solidFill>
                <a:latin typeface="Arial"/>
              </a:rPr>
              <a:t>PROOF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73184" y="3419856"/>
            <a:ext cx="1847088" cy="658368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88" b="1">
                <a:solidFill>
                  <a:srgbClr val="FFFFFF"/>
                </a:solidFill>
                <a:latin typeface="Arial"/>
              </a:rPr>
              <a:t>검증 SQL
결과 링크·캡처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572768" y="4983480"/>
            <a:ext cx="9052560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828800" y="5212080"/>
            <a:ext cx="1005840" cy="274320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344" b="1">
                <a:solidFill>
                  <a:srgbClr val="1D4ED8"/>
                </a:solidFill>
                <a:latin typeface="Arial"/>
              </a:rPr>
              <a:t>GO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44368" y="5157216"/>
            <a:ext cx="7315200" cy="34747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norm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456" b="1">
                <a:solidFill>
                  <a:srgbClr val="111827"/>
                </a:solidFill>
                <a:latin typeface="Arial"/>
              </a:rPr>
              <a:t>14/20 권장 모델 · 매핑 100% · 검증 쿼리 3종 · 이슈 우회안 포함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Track1 Overview</dc:title>
  <dc:subject>FabricIQ semantic foundation and Ontology workshop</dc:subject>
  <dc:creator>Data Platform Workshop</dc:creator>
  <cp:keywords>FabricIQ, WorkIQ, FoundryIQ, 3-IQ workshop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