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4937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TRACK 1 · FABRICIQ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41832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ple SD Gothic Neo"/>
              </a:rPr>
              <a:t>정형 데이터에서 공통 의미 모델까지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6984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AD3E3"/>
                </a:solidFill>
                <a:latin typeface="Apple SD Gothic Neo"/>
              </a:rPr>
              <a:t>14개 Lakehouse 테이블의 구조와 품질 개념을 이해하고, 표준 스키마와 Ontology 매핑으로 검증 가능한 정형 기준 소스를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971800"/>
            <a:ext cx="2331720" cy="932688"/>
          </a:xfrm>
          <a:prstGeom prst="roundRect">
            <a:avLst/>
          </a:prstGeom>
          <a:solidFill>
            <a:srgbClr val="192743"/>
          </a:solidFill>
          <a:ln w="12700">
            <a:solidFill>
              <a:srgbClr val="31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145536"/>
            <a:ext cx="20025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150분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20440"/>
            <a:ext cx="2002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BD0"/>
                </a:solidFill>
                <a:latin typeface="Apple SD Gothic Neo"/>
              </a:rPr>
              <a:t>실습 140 + 휴식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9816" y="2971800"/>
            <a:ext cx="2331720" cy="932688"/>
          </a:xfrm>
          <a:prstGeom prst="roundRect">
            <a:avLst/>
          </a:prstGeom>
          <a:solidFill>
            <a:srgbClr val="192743"/>
          </a:solidFill>
          <a:ln w="12700">
            <a:solidFill>
              <a:srgbClr val="31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3145536"/>
            <a:ext cx="20025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14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3520440"/>
            <a:ext cx="2002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BD0"/>
                </a:solidFill>
                <a:latin typeface="Apple SD Gothic Neo"/>
              </a:rPr>
              <a:t>Lakehouse 정형 데이터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2971800"/>
            <a:ext cx="2331720" cy="932688"/>
          </a:xfrm>
          <a:prstGeom prst="roundRect">
            <a:avLst/>
          </a:prstGeom>
          <a:solidFill>
            <a:srgbClr val="192743"/>
          </a:solidFill>
          <a:ln w="12700">
            <a:solidFill>
              <a:srgbClr val="31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145536"/>
            <a:ext cx="20025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14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520440"/>
            <a:ext cx="2002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BD0"/>
                </a:solidFill>
                <a:latin typeface="Apple SD Gothic Neo"/>
              </a:rPr>
              <a:t>권장 엔터티 / 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971800"/>
            <a:ext cx="2331720" cy="932688"/>
          </a:xfrm>
          <a:prstGeom prst="roundRect">
            <a:avLst/>
          </a:prstGeom>
          <a:solidFill>
            <a:srgbClr val="192743"/>
          </a:solidFill>
          <a:ln w="12700">
            <a:solidFill>
              <a:srgbClr val="31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3145536"/>
            <a:ext cx="200253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1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3520440"/>
            <a:ext cx="200253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BD0"/>
                </a:solidFill>
                <a:latin typeface="Apple SD Gothic Neo"/>
              </a:rPr>
              <a:t>Track2 입력 계약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4800600"/>
            <a:ext cx="10927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01768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2764E7"/>
                </a:solidFill>
                <a:latin typeface="Apple SD Gothic Neo"/>
              </a:rPr>
              <a:t>TRACK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919472"/>
            <a:ext cx="909828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ple SD Gothic Neo"/>
              </a:rPr>
              <a:t>검증 가능한 KPI와 관계 경로를 제공하는 FabricIQ 시맨틱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1809B"/>
                </a:solidFill>
                <a:latin typeface="Apple SD Gothic Neo"/>
              </a:rPr>
              <a:t>Microsoft IQ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1809B"/>
                </a:solidFill>
                <a:latin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ROLE &amp; 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Track1이 책임지는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산출물은 오류 탐지 보고서가 아니라 FabricIQ가 계산하고 설명할 수 있는 의미·매핑 계약입니다.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47672"/>
            <a:ext cx="621792" cy="256032"/>
          </a:xfrm>
          <a:prstGeom prst="round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5681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13432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정형 기준값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52344"/>
            <a:ext cx="3221736" cy="10287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캠페인·주문·결제·배송·반품·재고 지표를 재현 가능한 SQL과 기준값으로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728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3608" y="1947672"/>
            <a:ext cx="621792" cy="256032"/>
          </a:xfrm>
          <a:prstGeom prst="round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3608" y="195681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3608" y="2313432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Ontology 공통 어휘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8" y="2752344"/>
            <a:ext cx="3221736" cy="10287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Customer · Order · Product 엔터티와 관계 방향·카디널리티를 Microsoft IQ 공통 언어로 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3983" y="1947672"/>
            <a:ext cx="621792" cy="256032"/>
          </a:xfrm>
          <a:prstGeom prst="round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3983" y="195681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3983" y="2313432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추적 가능한 매핑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3983" y="2752344"/>
            <a:ext cx="3221736" cy="10287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원천 컬럼 → 표준 컬럼 → Ontology 속성의 변환과 lineage를 문서화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091939"/>
            <a:ext cx="3587496" cy="2125979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완료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엔터티 10–16 · 관계 15–25
3단 매핑 100%
의미 경로 3개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0728" y="4091939"/>
            <a:ext cx="3587496" cy="2125979"/>
          </a:xfrm>
          <a:prstGeom prst="roundRect">
            <a:avLst/>
          </a:prstGeom>
          <a:solidFill>
            <a:srgbClr val="F0EBFC"/>
          </a:solidFill>
          <a:ln w="12700">
            <a:solidFill>
              <a:srgbClr val="6F4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3608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참가자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3608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데이터 구조 읽기
품질 개념과 영향 이해
표준화·Ontology 매핑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1104" y="4091939"/>
            <a:ext cx="3587496" cy="2125979"/>
          </a:xfrm>
          <a:prstGeom prst="roundRect">
            <a:avLst/>
          </a:prstGeom>
          <a:solidFill>
            <a:srgbClr val="FFF0E7"/>
          </a:solidFill>
          <a:ln w="12700">
            <a:solidFill>
              <a:srgbClr val="D9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3983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강사 설명 전용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3983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참조 무결성 · PK 중복 · 결측 · 이상값 사례는 설명과 회귀 재현용이며 참가자가 탐지 쿼리를 실행하지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AGENTS.md · track1/WORKBOOK.md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DATA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14개 테이블과 다중 홉 분석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업무 도메인을 끊어진 표가 아니라 질문 중심의 관계 구조로 연결합니다.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264490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2279142" cy="3666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Customer · Product · Channel
Campaign · Promotion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8134" y="1783080"/>
            <a:ext cx="264490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423160"/>
            <a:ext cx="2279142" cy="3666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Order · OrderItem · Payment
CampaignAttribution · OrderPromotion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6" y="1783080"/>
            <a:ext cx="264490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8796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423160"/>
            <a:ext cx="2279142" cy="3666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Shipment · Return
InventorySnapshot · SupportTicket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3698" y="1783080"/>
            <a:ext cx="264490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6578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QUESTION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578" y="2423160"/>
            <a:ext cx="2279142" cy="3666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Q1 결제/전환 · Q2 배송/반품
Q3 프로모션 · Q4 재고 · Q5 채널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track1/data/README.md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MISSION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140분 실습 + 10분 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질문을 먼저 고정하고 데이터 구조, 표준화, Ontology, 매핑을 단계적으로 연결합니다.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011680"/>
            <a:ext cx="210860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2176272"/>
            <a:ext cx="1779422" cy="384048"/>
          </a:xfrm>
          <a:prstGeom prst="roundRect">
            <a:avLst/>
          </a:prstGeom>
          <a:solidFill>
            <a:srgbClr val="2764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12848"/>
            <a:ext cx="145023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10분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761488"/>
            <a:ext cx="177942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M1 ·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310128"/>
            <a:ext cx="1779422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Q1–Q5
질문–테이블 연결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5806" y="3584448"/>
            <a:ext cx="283464" cy="228600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5262" y="2011680"/>
            <a:ext cx="210860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9854" y="2176272"/>
            <a:ext cx="1779422" cy="384048"/>
          </a:xfrm>
          <a:prstGeom prst="roundRect">
            <a:avLst/>
          </a:prstGeom>
          <a:solidFill>
            <a:srgbClr val="2764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4446" y="2212848"/>
            <a:ext cx="145023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9854" y="2761488"/>
            <a:ext cx="177942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M2 · Orientation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9854" y="3310128"/>
            <a:ext cx="1779422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테이블 구조 읽기
품질 개념과 영향 이해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20716" y="3584448"/>
            <a:ext cx="283464" cy="228600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40172" y="2011680"/>
            <a:ext cx="210860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04764" y="2176272"/>
            <a:ext cx="1779422" cy="384048"/>
          </a:xfrm>
          <a:prstGeom prst="roundRect">
            <a:avLst/>
          </a:prstGeom>
          <a:solidFill>
            <a:srgbClr val="2764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9356" y="2212848"/>
            <a:ext cx="145023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30분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4764" y="2761488"/>
            <a:ext cx="177942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M3 ·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4764" y="3310128"/>
            <a:ext cx="1779422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키·타입·코드
날짜·통화 규칙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75627" y="3584448"/>
            <a:ext cx="283464" cy="228600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95083" y="2011680"/>
            <a:ext cx="210860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9675" y="2176272"/>
            <a:ext cx="1779422" cy="384048"/>
          </a:xfrm>
          <a:prstGeom prst="roundRect">
            <a:avLst/>
          </a:prstGeom>
          <a:solidFill>
            <a:srgbClr val="2764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4267" y="2212848"/>
            <a:ext cx="145023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40분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9675" y="2761488"/>
            <a:ext cx="177942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M4 · Ontology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9675" y="3310128"/>
            <a:ext cx="1779422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엔터티·관계
방향·카디널리티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30537" y="3584448"/>
            <a:ext cx="283464" cy="228600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49993" y="2011680"/>
            <a:ext cx="210860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14585" y="2176272"/>
            <a:ext cx="1779422" cy="384048"/>
          </a:xfrm>
          <a:prstGeom prst="roundRect">
            <a:avLst/>
          </a:prstGeom>
          <a:solidFill>
            <a:srgbClr val="2764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9177" y="2212848"/>
            <a:ext cx="145023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30분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4585" y="2761488"/>
            <a:ext cx="177942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M5 ·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4585" y="3310128"/>
            <a:ext cx="1779422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3단 매핑
의미 경로 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532120"/>
            <a:ext cx="10561320" cy="566928"/>
          </a:xfrm>
          <a:prstGeom prst="roundRect">
            <a:avLst/>
          </a:prstGeom>
          <a:solidFill>
            <a:srgbClr val="1018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568696"/>
            <a:ext cx="1023213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T+20 구조 읽기 · T+60 표준 스키마 초안 · T+130 매핑 70% + 의미 경로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track1/WORKBOOK.md §단계별 미션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DATA QUALITY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품질 사례를 이해하고 표준화 영향에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의도된 P1 사례는 강사 설명과 회귀 재현을 위해 유지하지만 참가자 탐지·수정 실습에서는 제외합니다.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3221736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참조 무결성 · PK 유일성
결측 · 유효범위
코드셋 · 금액 일관성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0728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3608" y="1984248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업무 영향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3608" y="2423160"/>
            <a:ext cx="3221736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관계 경로 단절
중복 집계 · 잘못된 KPI
검색·매핑 신뢰도 저하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1104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983" y="1984248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참가자 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983" y="2423160"/>
            <a:ext cx="3221736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테이블 역할 읽기
표준화 규칙 해석
Ontology 매핑 영향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091939"/>
            <a:ext cx="3587496" cy="2125979"/>
          </a:xfrm>
          <a:prstGeom prst="roundRect">
            <a:avLst/>
          </a:prstGeom>
          <a:solidFill>
            <a:srgbClr val="FFF0E7"/>
          </a:solidFill>
          <a:ln w="12700">
            <a:solidFill>
              <a:srgbClr val="D9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강사 사례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FK 고아 2건 · PK 중복 1건
금액 불일치 2건
설명/회귀 전용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0728" y="4091939"/>
            <a:ext cx="3587496" cy="2125979"/>
          </a:xfrm>
          <a:prstGeom prst="roundRect">
            <a:avLst/>
          </a:prstGeom>
          <a:solidFill>
            <a:srgbClr val="FCEBED"/>
          </a:solidFill>
          <a:ln w="12700">
            <a:solidFill>
              <a:srgbClr val="C43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3608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금지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3608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P1 탐지 쿼리 실행
오류 목록 제출
결측·이상값 수정 실습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1104" y="4091939"/>
            <a:ext cx="3587496" cy="2125979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3983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남기는 증적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3983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데이터 구조 이해 기록
표준화 영향 메모
구현 제한과 우회안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common/docs/Data_Validation.md · track1/WORKBOOK.md M2/M3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ONTOLOGY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권장 모델: 14 엔터티 · 20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17개 물리 관계와 3개 논리 관계를 정의 번들 하나의 계약으로 관리합니다.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2279142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Customer · Product · Channel
Campaign · Promotion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8134" y="1783080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423160"/>
            <a:ext cx="2279142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Order · OrderItem ·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6" y="1783080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8796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423160"/>
            <a:ext cx="2279142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Shipment · Return
InventorySnapshot · SupportTicket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3698" y="1783080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6578" y="1984248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578" y="2423160"/>
            <a:ext cx="2279142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CampaignAttribution
OrderPromotion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4091939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293107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관계 원칙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732019"/>
            <a:ext cx="2279142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방향(From→To) + 카디널리티 필수
재시도 결제: Order 1:N 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8134" y="4091939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1014" y="4293107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논리 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1014" y="4732019"/>
            <a:ext cx="2279142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캠페인 귀속: Campaign N:M Order
Customer N:M 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5916" y="4091939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6" y="4293107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Ontology bundle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4732019"/>
            <a:ext cx="2279142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ontology_contract.yaml
full → core fallback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3698" y="4091939"/>
            <a:ext cx="2644902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4293107"/>
            <a:ext cx="227914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검토 포인트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578" y="4732019"/>
            <a:ext cx="2279142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정의 · 관계 · 매핑
검색 키와 의미 경로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track1/WORKBOOK.md M4 · track1/ontology_bundle/README.md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MAPPING &amp; SEMANTIC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원천 → 표준 → Ontology를 증적으로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계산 근거와 의미 경로가 서로 다른 문서에 흩어지지 않도록 한 흐름으로 확인합니다.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148840"/>
            <a:ext cx="261747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313432"/>
            <a:ext cx="621792" cy="256032"/>
          </a:xfrm>
          <a:prstGeom prst="roundRect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2257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79192"/>
            <a:ext cx="225171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18104"/>
            <a:ext cx="225171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orders.order_status
payments.payment_status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3814" y="3410712"/>
            <a:ext cx="347472" cy="256032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7278" y="2148840"/>
            <a:ext cx="261747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50158" y="2313432"/>
            <a:ext cx="621792" cy="256032"/>
          </a:xfrm>
          <a:prstGeom prst="round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0158" y="232257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158" y="2679192"/>
            <a:ext cx="225171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118104"/>
            <a:ext cx="225171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ORDER_STATUS
PAYMENT_STATUS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20740" y="3410712"/>
            <a:ext cx="347472" cy="256032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4204" y="2148840"/>
            <a:ext cx="261747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7084" y="2313432"/>
            <a:ext cx="621792" cy="256032"/>
          </a:xfrm>
          <a:prstGeom prst="roundRect">
            <a:avLst/>
          </a:prstGeom>
          <a:solidFill>
            <a:srgbClr val="6F4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7084" y="232257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7084" y="2679192"/>
            <a:ext cx="225171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ONTOLOGY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7084" y="3118104"/>
            <a:ext cx="225171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Order.order_status
Payment.payment_status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57666" y="3410712"/>
            <a:ext cx="347472" cy="256032"/>
          </a:xfrm>
          <a:prstGeom prst="rightArrow">
            <a:avLst/>
          </a:prstGeom>
          <a:solidFill>
            <a:srgbClr val="27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41130" y="2148840"/>
            <a:ext cx="261747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24010" y="2313432"/>
            <a:ext cx="621792" cy="256032"/>
          </a:xfrm>
          <a:prstGeom prst="roundRect">
            <a:avLst/>
          </a:prstGeom>
          <a:solidFill>
            <a:srgbClr val="D9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4010" y="2322576"/>
            <a:ext cx="621792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4010" y="2679192"/>
            <a:ext cx="225171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SEMANTIC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4010" y="3118104"/>
            <a:ext cx="225171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5"/>
                </a:solidFill>
                <a:latin typeface="Apple SD Gothic Neo"/>
              </a:rPr>
              <a:t>Q1–Q3 관계 경로
속성·방향·카디널리티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376672"/>
            <a:ext cx="10561320" cy="621792"/>
          </a:xfrm>
          <a:prstGeom prst="roundRect">
            <a:avLst/>
          </a:prstGeom>
          <a:solidFill>
            <a:srgbClr val="1018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413248"/>
            <a:ext cx="10232136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</a:rPr>
              <a:t>확인 범위 · 매핑 커버리지 100% · 핵심 관계 방향 · Q1–Q3 의미 경로 · 구현 제한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track1/WORKBOOK.md M5 · Track1 Data Structure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2764E7"/>
                </a:solidFill>
                <a:latin typeface="Apple SD Gothic Neo"/>
              </a:rPr>
              <a:t>TRACK2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73968" y="24688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A6475"/>
                </a:solidFill>
                <a:latin typeface="Apple SD Gothic Neo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ple SD Gothic Neo"/>
              </a:rPr>
              <a:t>Track1 종료는 다음 트랙의 시작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pple SD Gothic Neo"/>
              </a:rPr>
              <a:t>Track2가 첫 5분 안에 검수할 수 있도록 식별자·모델·매핑·검색 키·구현 제한을 패키지로 제출합니다.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3221736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WORKSPACE_ID
ONTOLOGY_ID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0728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3608" y="1984248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3608" y="2423160"/>
            <a:ext cx="3221736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엔터티/관계 수
핵심 경로 3개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1104" y="1783080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983" y="1984248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983" y="2423160"/>
            <a:ext cx="3221736" cy="13578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Entity → table.column
핵심 매핑 5개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091939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캠페인·상품·등급
WorkIQ 키워드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0728" y="4091939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3608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3608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실제 구현 제한
영향 + 우회안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1104" y="4091939"/>
            <a:ext cx="3587496" cy="21259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3983" y="4293107"/>
            <a:ext cx="32217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ple SD Gothic Neo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3983" y="4732019"/>
            <a:ext cx="3221736" cy="13578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5"/>
                </a:solidFill>
                <a:latin typeface="Apple SD Gothic Neo"/>
              </a:rPr>
              <a:t>매핑 리뷰 산출물
의미 경로 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7B8493"/>
                </a:solidFill>
                <a:latin typeface="Apple SD Gothic Neo"/>
              </a:rPr>
              <a:t>Source: track1/WORKBOOK.md TRACK2_HANDOFF_PACKAGE · track2/WORKBOOK.md M1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B8493"/>
                </a:solidFill>
                <a:latin typeface="Apple SD Gothic Ne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