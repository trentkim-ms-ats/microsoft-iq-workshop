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20624"/>
            <a:ext cx="4937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TRACK 2 · WORKIQ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941832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ple SD Gothic Neo"/>
              </a:rPr>
              <a:t>M365 업무 근거를 검색 가능한 증거로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755648"/>
            <a:ext cx="106984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CAD3E3"/>
                </a:solidFill>
                <a:latin typeface="Apple SD Gothic Neo"/>
              </a:rPr>
              <a:t>Track1 Ontology 키로 SharePoint·Outlook·Teams·OneDrive를 교차 매핑하고 ACL과 8개 품질 항목을 확인해 FoundryIQ 입력을 준비합니다.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110분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4개 미션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9816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4408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4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M365 검색 범위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96128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60 items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확장 샘플 업무항목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971800"/>
            <a:ext cx="2331720" cy="932688"/>
          </a:xfrm>
          <a:prstGeom prst="roundRect">
            <a:avLst/>
          </a:prstGeom>
          <a:solidFill>
            <a:srgbClr val="192743"/>
          </a:solidFill>
          <a:ln w="12700">
            <a:solidFill>
              <a:srgbClr val="31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3145536"/>
            <a:ext cx="200253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ple SD Gothic Neo"/>
              </a:rPr>
              <a:t>6 /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3520440"/>
            <a:ext cx="20025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EBBD0"/>
                </a:solidFill>
                <a:latin typeface="Apple SD Gothic Neo"/>
              </a:rPr>
              <a:t>품질 PASS 게이트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4800600"/>
            <a:ext cx="10927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01768"/>
            <a:ext cx="13258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16845B"/>
                </a:solidFill>
                <a:latin typeface="Apple SD Gothic Neo"/>
              </a:rPr>
              <a:t>TRACK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919472"/>
            <a:ext cx="90982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pple SD Gothic Neo"/>
              </a:rPr>
              <a:t>권한이 적용된 WorkIQ 근거 링크와 재현 가능한 품질 점수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647395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1809B"/>
                </a:solidFill>
                <a:latin typeface="Apple SD Gothic Neo"/>
              </a:rPr>
              <a:t>Microsoft IQ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4652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1809B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ROLE &amp;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FabricIQ 의미를 M365 업무 맥락에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Track2는 문서를 많이 적재하는 단계가 아니라 검색 가능성과 근거 품질을 증명하는 단계입니다.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47672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Track1 인계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52344"/>
            <a:ext cx="3221736" cy="3337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Ontology IDs · 핵심 경로
Entity 매핑 · 키워드
구현 제한 · 의미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0728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3608" y="194767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3608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3608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WorkIQ 근거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3608" y="2752344"/>
            <a:ext cx="3221736" cy="3337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4대 M365 소스 검색
Entity→Document 매핑
ACL · 최신성 · 원본 링크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3983" y="1947672"/>
            <a:ext cx="621792" cy="256032"/>
          </a:xfrm>
          <a:prstGeom prst="roundRect">
            <a:avLst/>
          </a:prstGeom>
          <a:solidFill>
            <a:srgbClr val="D9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3983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3983" y="2313432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FoundryIQ 입력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3" y="2752344"/>
            <a:ext cx="3221736" cy="3337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인덱스 카탈로그
8항목 품질 점수
근거 링크 5건 · 질의 3개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AGENTS.md · track2/WORKBOOK.md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MISSION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4개 미션 · 110분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검색 가용성에서 시작해 매핑, 증적, 점수화, FoundryIQ 인계까지 한 흐름으로 완료합니다.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4944" y="2176272"/>
            <a:ext cx="2343150" cy="384048"/>
          </a:xfrm>
          <a:prstGeom prst="roundRect">
            <a:avLst/>
          </a:prstGeom>
          <a:solidFill>
            <a:srgbClr val="16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25분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M1 · Kickoff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인계 5분
키워드·소스 인벤토리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9534" y="3584448"/>
            <a:ext cx="283464" cy="228600"/>
          </a:xfrm>
          <a:prstGeom prst="rightArrow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48990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13582" y="2176272"/>
            <a:ext cx="2343150" cy="384048"/>
          </a:xfrm>
          <a:prstGeom prst="roundRect">
            <a:avLst/>
          </a:prstGeom>
          <a:solidFill>
            <a:srgbClr val="16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8174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25분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3582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M2 ·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3582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Campaign · Product
CustomerTier ↔ 문서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8172" y="3584448"/>
            <a:ext cx="283464" cy="228600"/>
          </a:xfrm>
          <a:prstGeom prst="rightArrow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67628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32220" y="2176272"/>
            <a:ext cx="2343150" cy="384048"/>
          </a:xfrm>
          <a:prstGeom prst="roundRect">
            <a:avLst/>
          </a:prstGeom>
          <a:solidFill>
            <a:srgbClr val="16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812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35분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M3 ·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2220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8대 항목
증적·점수·조치안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66810" y="3584448"/>
            <a:ext cx="283464" cy="228600"/>
          </a:xfrm>
          <a:prstGeom prst="rightArrow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86266" y="2011680"/>
            <a:ext cx="26723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50858" y="2176272"/>
            <a:ext cx="2343150" cy="384048"/>
          </a:xfrm>
          <a:prstGeom prst="roundRect">
            <a:avLst/>
          </a:prstGeom>
          <a:solidFill>
            <a:srgbClr val="16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15450" y="2212848"/>
            <a:ext cx="201396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25분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0858" y="2761488"/>
            <a:ext cx="234315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M4 · Handoff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858" y="3310128"/>
            <a:ext cx="234315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FoundryIQ 입력 패키지
링크·질의·ACL 증적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532120"/>
            <a:ext cx="10561320" cy="566928"/>
          </a:xfrm>
          <a:prstGeom prst="roundRect">
            <a:avLst/>
          </a:prstGeom>
          <a:solidFill>
            <a:srgbClr val="1018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568696"/>
            <a:ext cx="10232136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T+15 키워드 5종 · T+25 4소스 · T+50 매핑 · T+85 증적 8개 · T+110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track2/WORKBOOK.md §단계별 미션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M365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4대 소스 · 60개 업무항목 · ACL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같은 사건을 문서·메일·채팅·회의록에서 서로 다른 관점으로 검색합니다.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84248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SharePoint ·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23160"/>
            <a:ext cx="2279142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캠페인 기획서
성과 리포트 · 플레이북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134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1014" y="1984248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Outlook ·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014" y="2423160"/>
            <a:ext cx="2279142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리더십 메일
결제·배송·재고 이슈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916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8796" y="1984248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Teams · 18 / 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2423160"/>
            <a:ext cx="2279142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18 스레드
루트+답글 55 메시지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3698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1984248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OneDrive ·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6578" y="2423160"/>
            <a:ext cx="2279142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미팅 노트
브리핑 · 정책 문서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4091939"/>
            <a:ext cx="2644902" cy="2125979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293107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Participant account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32019"/>
            <a:ext cx="2279142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허용 검색 + 원본 열기 결과를 링크와 캡처로 증적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58134" y="4091939"/>
            <a:ext cx="2644902" cy="2125979"/>
          </a:xfrm>
          <a:prstGeom prst="roundRect">
            <a:avLst/>
          </a:prstGeom>
          <a:solidFill>
            <a:srgbClr val="FCEBED"/>
          </a:solidFill>
          <a:ln w="12700">
            <a:solidFill>
              <a:srgbClr val="C43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1014" y="4293107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Restricted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1014" y="4732019"/>
            <a:ext cx="2279142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제한 검색 + 원본 열기 차단 결과를 live 증적으로 보존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5916" y="4091939"/>
            <a:ext cx="2644902" cy="2125979"/>
          </a:xfrm>
          <a:prstGeom prst="roundRect">
            <a:avLst/>
          </a:prstGeom>
          <a:solidFill>
            <a:srgbClr val="FFF0E7"/>
          </a:solidFill>
          <a:ln w="12700">
            <a:solidFill>
              <a:srgbClr val="D9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6" y="4293107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Live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4732019"/>
            <a:ext cx="2279142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fixture/dry-run은 실제 ACL 증거가 아님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3698" y="4091939"/>
            <a:ext cx="2644902" cy="2125979"/>
          </a:xfrm>
          <a:prstGeom prst="roundRect">
            <a:avLst/>
          </a:prstGeom>
          <a:solidFill>
            <a:srgbClr val="F0EBFC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6578" y="4293107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578" y="4732019"/>
            <a:ext cx="2279142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실제 임직원 데이터 금지
샘플/격리 테넌트 사용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track2/data/README.md · track2/PREREQUISITES.md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SEARCH &amp;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키워드 프로브와 Entity→Document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표기 불일치와 검색 범위를 먼저 통제해야 품질 점수가 실제 근거를 반영합니다.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23160"/>
            <a:ext cx="3221736" cy="3666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Campaign 4 · Product 5
CustomerTier 1
각 엔터티 ≥ 1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0728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3608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Q3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3608" y="2423160"/>
            <a:ext cx="3221736" cy="3666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AeroPhone X · SmartWatch Pro
UltraBook 15
각 상품 ≥ 2 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1104" y="1783080"/>
            <a:ext cx="3587496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983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NORMALIZE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983" y="2423160"/>
            <a:ext cx="3221736" cy="3666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공백 · 대소문자 · 별칭
표기 재시도
정규화 로그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track2/WORKBOOK.md M1/M2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QUALITY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정형 + 비정형 8대 품질 프레임워크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각 항목은 0/25/50/75/100으로 채점하고 쿼리·검색 결과·유효 링크를 증적으로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4767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1343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정확성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52344"/>
            <a:ext cx="2279142" cy="10287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지표 계산 · 인용 사실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8134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41014" y="194767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1014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1014" y="231343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완전성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1014" y="2752344"/>
            <a:ext cx="2279142" cy="10287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엔터티 · 문서 커버리지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68796" y="194767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8796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231343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일관성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8796" y="2752344"/>
            <a:ext cx="2279142" cy="10287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코드셋 · 용어 표기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3698" y="1783080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96578" y="194767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6578" y="195681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6578" y="231343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유효성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578" y="2752344"/>
            <a:ext cx="2279142" cy="10287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값 범위 · 문서 상태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" y="4091939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3232" y="4256531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42656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62229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중복성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061204"/>
            <a:ext cx="2279142" cy="102869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레코드 · 문서 버전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58134" y="4091939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41014" y="4256531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1014" y="42656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462229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참조무결성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41014" y="5061204"/>
            <a:ext cx="2279142" cy="102869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FK · 원본 링크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5916" y="4091939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68796" y="4256531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8796" y="42656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8796" y="462229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적시성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8796" y="5061204"/>
            <a:ext cx="2279142" cy="102869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데이터 · 문서 최신성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13698" y="4091939"/>
            <a:ext cx="2644902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96578" y="4256531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6578" y="42656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96578" y="4622292"/>
            <a:ext cx="227914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추적성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6578" y="5061204"/>
            <a:ext cx="2279142" cy="102869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lineage · 출처 보존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track2/WORKBOOK.md M3/M4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DEPLOYMENT &amp;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생성 → 준비 → dry-run → 배포 →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자동화는 재현성을 높이지만 ACL은 테넌트 관리자의 사전 구성과 별도 검증이 필요합니다.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148840"/>
            <a:ext cx="2050084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31343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679192"/>
            <a:ext cx="1684324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Generate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118104"/>
            <a:ext cx="1684324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npm run generate
샘플 60건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6428" y="3410712"/>
            <a:ext cx="347472" cy="256032"/>
          </a:xfrm>
          <a:prstGeom prst="rightArrow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99892" y="2148840"/>
            <a:ext cx="2050084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82772" y="2313432"/>
            <a:ext cx="621792" cy="256032"/>
          </a:xfrm>
          <a:prstGeom prst="round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2772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2772" y="2679192"/>
            <a:ext cx="1684324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Bootstrap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2772" y="3118104"/>
            <a:ext cx="1684324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앱·권한·채널
관리자 준비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785969" y="3410712"/>
            <a:ext cx="347472" cy="256032"/>
          </a:xfrm>
          <a:prstGeom prst="rightArrow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9433" y="2148840"/>
            <a:ext cx="2050084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A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52313" y="2313432"/>
            <a:ext cx="621792" cy="256032"/>
          </a:xfrm>
          <a:prstGeom prst="roundRect">
            <a:avLst/>
          </a:prstGeom>
          <a:solidFill>
            <a:srgbClr val="6F4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2313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2313" y="2679192"/>
            <a:ext cx="1684324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Dry-run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2313" y="3118104"/>
            <a:ext cx="1684324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기본값 · 쓰기 없음
계획 검토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55510" y="3410712"/>
            <a:ext cx="347472" cy="256032"/>
          </a:xfrm>
          <a:prstGeom prst="rightArrow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38974" y="2148840"/>
            <a:ext cx="2050084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21854" y="2313432"/>
            <a:ext cx="621792" cy="256032"/>
          </a:xfrm>
          <a:prstGeom prst="roundRect">
            <a:avLst/>
          </a:prstGeom>
          <a:solidFill>
            <a:srgbClr val="D9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1854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1854" y="2679192"/>
            <a:ext cx="1684324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Execute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1854" y="3118104"/>
            <a:ext cx="1684324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운영자 승인 시
샘플 테넌트만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325051" y="3410712"/>
            <a:ext cx="347472" cy="256032"/>
          </a:xfrm>
          <a:prstGeom prst="rightArrow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08515" y="2148840"/>
            <a:ext cx="2050084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91395" y="2313432"/>
            <a:ext cx="621792" cy="256032"/>
          </a:xfrm>
          <a:prstGeom prst="roundRect">
            <a:avLst/>
          </a:prstGeom>
          <a:solidFill>
            <a:srgbClr val="276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395" y="2322576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1395" y="2679192"/>
            <a:ext cx="1684324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Verify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1395" y="3118104"/>
            <a:ext cx="1684324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475"/>
                </a:solidFill>
                <a:latin typeface="Apple SD Gothic Neo"/>
              </a:rPr>
              <a:t>링크·건수·ACL
인계 기준 확인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76672"/>
            <a:ext cx="10561320" cy="621792"/>
          </a:xfrm>
          <a:prstGeom prst="roundRect">
            <a:avLst/>
          </a:prstGeom>
          <a:solidFill>
            <a:srgbClr val="1018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413248"/>
            <a:ext cx="10232136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GUARDRAIL · 실제 임직원 데이터 금지 · 토큰은 환경변수 · 실습 종료 후 권한 회수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track2/data/README.md · deployment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4114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6845B"/>
                </a:solidFill>
                <a:latin typeface="Apple SD Gothic Neo"/>
              </a:rPr>
              <a:t>FOUNDRYIQ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73968" y="246888"/>
            <a:ext cx="438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A6475"/>
                </a:solidFill>
                <a:latin typeface="Apple SD Gothic Neo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033"/>
                </a:solidFill>
                <a:latin typeface="Apple SD Gothic Neo"/>
              </a:rPr>
              <a:t>근거와 품질을 재현 가능한 입력으로 전달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475"/>
                </a:solidFill>
                <a:latin typeface="Apple SD Gothic Neo"/>
              </a:rPr>
              <a:t>FoundryIQ는 이 패키지와 Track3의 별도 WEBIQ_HANDOFF_PACKAGE를 함께 받아 세 근거 소스를 결합합니다.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4소스 범위
필터 · 갱신 시각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0728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3608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3608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8항목 점수
미달 항목·조치안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1104" y="1783080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983" y="1984248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983" y="2423160"/>
            <a:ext cx="3221736" cy="135788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유효 링크
5건 이상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6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QUERIES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재현 질의
3개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0728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3608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ISSUES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3608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우선 이슈 Top3
영향·대응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1104" y="4091939"/>
            <a:ext cx="3587496" cy="21259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3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3983" y="4293107"/>
            <a:ext cx="3221736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033"/>
                </a:solidFill>
                <a:latin typeface="Apple SD Gothic Neo"/>
              </a:rPr>
              <a:t>ACL 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3983" y="4732019"/>
            <a:ext cx="3221736" cy="13578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A6475"/>
                </a:solidFill>
                <a:latin typeface="Apple SD Gothic Neo"/>
              </a:rPr>
              <a:t>participant/restricted
live 결과 증적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510528"/>
            <a:ext cx="10332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7B8493"/>
                </a:solidFill>
                <a:latin typeface="Apple SD Gothic Neo"/>
              </a:rPr>
              <a:t>Source: track2/WORKBOOK.md · track4/PREREQUISITES.md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B8493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