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02920"/>
            <a:ext cx="135331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512064"/>
            <a:ext cx="12618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TRACK 2 · WORKIQ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4241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56" b="1">
                <a:solidFill>
                  <a:srgbClr val="FFFFFF"/>
                </a:solidFill>
                <a:latin typeface="Arial"/>
              </a:rPr>
              <a:t>M365 업무 근거를 검색 가능한 증거로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90525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>
                <a:solidFill>
                  <a:srgbClr val="CBD5E1"/>
                </a:solidFill>
                <a:latin typeface="Arial"/>
              </a:rPr>
              <a:t>Track1 Ontology 키로 SharePoint·Outlook·Teams·OneDrive를 교차 매핑하고, ACL을 검증한 뒤 8개 품질 항목 중 6개 PASS로 Track3 입력을 완성합니다.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962656"/>
            <a:ext cx="2331720" cy="1143000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26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63824"/>
            <a:ext cx="20756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>
                <a:solidFill>
                  <a:srgbClr val="AFC4FF"/>
                </a:solidFill>
                <a:latin typeface="Arial"/>
              </a:rPr>
              <a:t>110분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593592"/>
            <a:ext cx="2075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CBD5E1"/>
                </a:solidFill>
                <a:latin typeface="Arial"/>
              </a:rPr>
              <a:t>25 + 25 + 35 + 25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962656"/>
            <a:ext cx="2331720" cy="1143000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26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3163824"/>
            <a:ext cx="20756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>
                <a:solidFill>
                  <a:srgbClr val="AFC4FF"/>
                </a:solidFill>
                <a:latin typeface="Arial"/>
              </a:rPr>
              <a:t>4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3593592"/>
            <a:ext cx="2075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CBD5E1"/>
                </a:solidFill>
                <a:latin typeface="Arial"/>
              </a:rPr>
              <a:t>M365 검색 범위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962656"/>
            <a:ext cx="2331720" cy="1143000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26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5" y="3163824"/>
            <a:ext cx="20756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>
                <a:solidFill>
                  <a:srgbClr val="AFC4FF"/>
                </a:solidFill>
                <a:latin typeface="Arial"/>
              </a:rPr>
              <a:t>60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5" y="3593592"/>
            <a:ext cx="2075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CBD5E1"/>
                </a:solidFill>
                <a:latin typeface="Arial"/>
              </a:rPr>
              <a:t>확장 샘플 업무항목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8512" y="2962656"/>
            <a:ext cx="2331720" cy="1143000"/>
          </a:xfrm>
          <a:prstGeom prst="roundRect">
            <a:avLst/>
          </a:prstGeom>
          <a:solidFill>
            <a:srgbClr val="111C31"/>
          </a:solidFill>
          <a:ln w="10160">
            <a:solidFill>
              <a:srgbClr val="26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3163824"/>
            <a:ext cx="207568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>
                <a:solidFill>
                  <a:srgbClr val="AFC4FF"/>
                </a:solidFill>
                <a:latin typeface="Arial"/>
              </a:rPr>
              <a:t>6 /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593592"/>
            <a:ext cx="2075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CBD5E1"/>
                </a:solidFill>
                <a:latin typeface="Arial"/>
              </a:rPr>
              <a:t>품질 PASS 게이트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617720"/>
            <a:ext cx="105613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828032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D4ED8"/>
                </a:solidFill>
                <a:latin typeface="Arial"/>
              </a:rPr>
              <a:t>TRACK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754880"/>
            <a:ext cx="84582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권한이 적용된 WorkIQ 근거 링크와 재현 가능한 품질 점수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94A3B8"/>
                </a:solidFill>
                <a:latin typeface="Arial"/>
              </a:rPr>
              <a:t>Source: track2/WORKBOOK.md · track2/data/README.md</a:t>
            </a:r>
          </a:p>
        </p:txBody>
      </p:sp>
      <p:sp>
        <p:nvSpPr>
          <p:cNvPr id="22" name="Oval 21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94A3B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ROLE &amp;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FabricIQ 의미를 M365 업무 맥락에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Track2는 문서를 많이 적재하는 단계가 아니라, 검색 가능성과 근거 품질을 증명하는 단계입니다.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AGENTS.md · track2/WORKBOOK.md §실습 목표/DoD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3736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920240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29384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40864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Track1 인계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51760"/>
            <a:ext cx="2971800" cy="9601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Ontology IDs · 핵심 경로
Entity 매핑 · 키워드
품질 이슈 Top3 · 검증 로그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73736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6" y="1920240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929384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40864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WorkIQ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71800" cy="9601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4대 M365 소스 검색
Entity→Document 매핑
ACL · 최신성 · 원본 링크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3736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1920240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929384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40864"/>
            <a:ext cx="29718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Track3 인계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51760"/>
            <a:ext cx="2971800" cy="9601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인덱스 카탈로그
8항목 품질 점수
근거 링크 5건 · 질의 3개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87952"/>
            <a:ext cx="10561320" cy="126187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425696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>
                <a:solidFill>
                  <a:srgbClr val="1D4ED8"/>
                </a:solidFill>
                <a:latin typeface="Arial"/>
              </a:rPr>
              <a:t>Definition of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389120"/>
            <a:ext cx="4160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>
                <a:solidFill>
                  <a:srgbClr val="111827"/>
                </a:solidFill>
                <a:latin typeface="Arial"/>
              </a:rPr>
              <a:t>키워드 4 / 5  ·  M365 각 1건  ·  엔터티별 문서 1건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4389120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>
                <a:solidFill>
                  <a:srgbClr val="111827"/>
                </a:solidFill>
                <a:latin typeface="Arial"/>
              </a:rPr>
              <a:t>품질 6 / 8 PASS  ·  링크 5건  ·  질의 3개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937760"/>
            <a:ext cx="97383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DC2626"/>
                </a:solidFill>
                <a:latin typeface="Arial"/>
              </a:rPr>
              <a:t>실제 임직원 데이터 금지 · 샘플/격리 테넌트 · 최소 권한 · ACL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MISSION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4개 미션 · 110분 연속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검색 가용성에서 시작해 매핑·증적·점수화·Track3 인계까지 한 흐름으로 완료합니다.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track2/WORKBOOK.md §중간 점검/단계별 미션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25831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39112"/>
            <a:ext cx="749808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48255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25분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78024"/>
            <a:ext cx="22539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>
                <a:solidFill>
                  <a:srgbClr val="111827"/>
                </a:solidFill>
                <a:latin typeface="Arial"/>
              </a:rPr>
              <a:t>M1 · Kickoff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22539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64748B"/>
                </a:solidFill>
                <a:latin typeface="Arial"/>
              </a:rPr>
              <a:t>인계 5분
키워드·소스 인벤토리</a:t>
            </a:r>
          </a:p>
        </p:txBody>
      </p:sp>
      <p:sp>
        <p:nvSpPr>
          <p:cNvPr id="14" name="Chevron 13"/>
          <p:cNvSpPr/>
          <p:nvPr/>
        </p:nvSpPr>
        <p:spPr>
          <a:xfrm>
            <a:off x="3177540" y="2606039"/>
            <a:ext cx="182880" cy="34747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7852" y="1874519"/>
            <a:ext cx="25831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2444" y="2039112"/>
            <a:ext cx="74980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8164" y="2048255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2444" y="2478024"/>
            <a:ext cx="22539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>
                <a:solidFill>
                  <a:srgbClr val="111827"/>
                </a:solidFill>
                <a:latin typeface="Arial"/>
              </a:rPr>
              <a:t>M2 ·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862072"/>
            <a:ext cx="22539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64748B"/>
                </a:solidFill>
                <a:latin typeface="Arial"/>
              </a:rPr>
              <a:t>Campaign · Product
CustomerTier ↔ 문서</a:t>
            </a:r>
          </a:p>
        </p:txBody>
      </p:sp>
      <p:sp>
        <p:nvSpPr>
          <p:cNvPr id="20" name="Chevron 19"/>
          <p:cNvSpPr/>
          <p:nvPr/>
        </p:nvSpPr>
        <p:spPr>
          <a:xfrm>
            <a:off x="5998464" y="2606039"/>
            <a:ext cx="182880" cy="34747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1874519"/>
            <a:ext cx="25831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73368" y="2039112"/>
            <a:ext cx="74980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048255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35분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478024"/>
            <a:ext cx="22539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>
                <a:solidFill>
                  <a:srgbClr val="111827"/>
                </a:solidFill>
                <a:latin typeface="Arial"/>
              </a:rPr>
              <a:t>M3 ·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862072"/>
            <a:ext cx="22539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64748B"/>
                </a:solidFill>
                <a:latin typeface="Arial"/>
              </a:rPr>
              <a:t>8대 항목
항목별 증적 수집</a:t>
            </a:r>
          </a:p>
        </p:txBody>
      </p:sp>
      <p:sp>
        <p:nvSpPr>
          <p:cNvPr id="26" name="Chevron 25"/>
          <p:cNvSpPr/>
          <p:nvPr/>
        </p:nvSpPr>
        <p:spPr>
          <a:xfrm>
            <a:off x="8819388" y="2606039"/>
            <a:ext cx="182880" cy="34747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9699" y="1874519"/>
            <a:ext cx="25831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94291" y="2039112"/>
            <a:ext cx="74980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0011" y="2048255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25분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4291" y="2478024"/>
            <a:ext cx="22539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>
                <a:solidFill>
                  <a:srgbClr val="111827"/>
                </a:solidFill>
                <a:latin typeface="Arial"/>
              </a:rPr>
              <a:t>M4 · Handoff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4291" y="2862072"/>
            <a:ext cx="22539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>
                <a:solidFill>
                  <a:srgbClr val="64748B"/>
                </a:solidFill>
                <a:latin typeface="Arial"/>
              </a:rPr>
              <a:t>점수화 · 조치안
Track3 패키지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315968"/>
            <a:ext cx="1024128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4544568"/>
            <a:ext cx="1417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1D4ED8"/>
                </a:solidFill>
                <a:latin typeface="Arial"/>
              </a:rPr>
              <a:t>TIME MARKERS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498848"/>
            <a:ext cx="1645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T+15  키워드 5종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498848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T+25  4소스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4498848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T+50  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4498848"/>
            <a:ext cx="15727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T+85  증적 8개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498848"/>
            <a:ext cx="14813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7"/>
                </a:solidFill>
                <a:latin typeface="Arial"/>
              </a:rPr>
              <a:t>T+110  제출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956048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64748B"/>
                </a:solidFill>
                <a:latin typeface="Arial"/>
              </a:rPr>
              <a:t>Mission 3은 항목당 약 4분 + 버퍼 3분으로 타임박스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M365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4대 소스 · 60개 업무항목 · 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같은 사건을 문서·메일·채팅·회의록에서 서로 다른 관점으로 검색합니다.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track2/data/README.md §1–7 · track2/PREREQUISITES.md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37360"/>
            <a:ext cx="2606040" cy="20574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22037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SharePoint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2203704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76" b="1">
                <a:solidFill>
                  <a:srgbClr val="1D4ED8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07792"/>
            <a:ext cx="220370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캠페인 기획서
성과 리포트 · 플레이북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737360"/>
            <a:ext cx="2606040" cy="20574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38528"/>
            <a:ext cx="22037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359152"/>
            <a:ext cx="2203704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76" b="1">
                <a:solidFill>
                  <a:srgbClr val="1D4ED8"/>
                </a:solidFill>
                <a:latin typeface="Arial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907792"/>
            <a:ext cx="220370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리더십 메일
결제·배송·재고 이슈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37360"/>
            <a:ext cx="2606040" cy="20574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938528"/>
            <a:ext cx="22037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59152"/>
            <a:ext cx="2203704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76" b="1">
                <a:solidFill>
                  <a:srgbClr val="1D4ED8"/>
                </a:solidFill>
                <a:latin typeface="Arial"/>
              </a:rPr>
              <a:t>18 / 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907792"/>
            <a:ext cx="220370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18 스레드
루트+답글 55 메시지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737360"/>
            <a:ext cx="2606040" cy="20574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938528"/>
            <a:ext cx="220370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OneDrive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359152"/>
            <a:ext cx="2203704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76" b="1">
                <a:solidFill>
                  <a:srgbClr val="1D4ED8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907792"/>
            <a:ext cx="2203704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미팅 노트
브리핑 · 정책 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4224528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443984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D4ED8"/>
                </a:solidFill>
                <a:latin typeface="Arial"/>
              </a:rPr>
              <a:t>Participant account ·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919472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허용 검색 + 원본 열기 결과를 캡처/링크로 증적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24528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407408"/>
            <a:ext cx="43159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D4ED8"/>
                </a:solidFill>
                <a:latin typeface="Arial"/>
              </a:rPr>
              <a:t>Restricted account · EXPECTED DENIAL /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919472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제한 검색 + 원본 열기 차단 결과를 live 증적으로 보존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SEARCH &amp;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키워드 프로브와 Entity→Document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표기 불일치와 검색 범위를 먼저 통제해야 품질 점수가 실제 근거를 반영합니다.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track2/WORKBOOK.md M1/M2 · Track1 WorkIQ Seed Specification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55648"/>
            <a:ext cx="197510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20240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SummerPush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755648"/>
            <a:ext cx="197510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1920240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VIPRetention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1755648"/>
            <a:ext cx="197510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1920240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AeroPhone 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6368" y="1755648"/>
            <a:ext cx="197510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920240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SmartWatch Pro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1755648"/>
            <a:ext cx="1975104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2096" y="1920240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11827"/>
                </a:solidFill>
                <a:latin typeface="Arial"/>
              </a:rPr>
              <a:t>Platinum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670048"/>
            <a:ext cx="303580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679191"/>
            <a:ext cx="29443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FFFFFF"/>
                </a:solidFill>
                <a:latin typeface="Arial"/>
              </a:rPr>
              <a:t>PASS 기준 · 5개 중 4개 이상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401568"/>
            <a:ext cx="340156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3584448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593592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005072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10개 엔터티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315968"/>
            <a:ext cx="303580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Campaign 4 · Product 5
CustomerTier 1
각 엔터티 ≥ 1 문서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01568"/>
            <a:ext cx="340156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3584448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93592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Q3 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005072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핵심 상품 3종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15968"/>
            <a:ext cx="303580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AeroPhone X · SmartWatch Pro
UltraBook 15
각 상품 ≥ 2 문서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8431" y="3401568"/>
            <a:ext cx="3401568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11311" y="3584448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3593592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NORMALIZE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1" y="4005072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표기 불일치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4315968"/>
            <a:ext cx="3035808" cy="7772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공백 · 대소문자 · 별칭
표기 재시도
정규화 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5440680"/>
            <a:ext cx="9692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DC2626"/>
                </a:solidFill>
                <a:latin typeface="Arial"/>
              </a:rPr>
              <a:t>검색 실패는 0으로 해석하지 않고 권한 → 범위 → 표기 순서로 원인을 분류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정형 + 비정형 8대 품질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각 항목은 0/25/50/75/100으로 채점하고, 쿼리·검색 결과·유효 링크를 증적으로 남깁니다.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track2/WORKBOOK.md M3/M4 · track2/PREREQUISITES.md §5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90195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74519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정확성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26771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지표 계산 · 인용 사실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737360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90195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874519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완전성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26771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엔터티 · 문서 커버리지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37360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90195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1874519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일관성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26771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코드셋 · 용어 표기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737360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901952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874519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유효성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26771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값 범위 · 문서 상태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980944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314553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118103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중복성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511296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레코드 · 문서 버전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2980944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14553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224" y="3118103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참조무결성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511296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FK · 원본 링크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2980944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314553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3118103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적시성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511296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데이터 · 문서 최신성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9136" y="2980944"/>
            <a:ext cx="2578608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3728" y="3145536"/>
            <a:ext cx="3840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D4ED8"/>
                </a:solidFill>
                <a:latin typeface="Arial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3118103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추적성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3511296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>
                <a:solidFill>
                  <a:srgbClr val="64748B"/>
                </a:solidFill>
                <a:latin typeface="Arial"/>
              </a:rPr>
              <a:t>lineage · 출처 보존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480560"/>
            <a:ext cx="6565392" cy="98755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" y="4690872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1D4ED8"/>
                </a:solidFill>
                <a:latin typeface="Arial"/>
              </a:rPr>
              <a:t>SCORING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4645152"/>
            <a:ext cx="46634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>
                <a:solidFill>
                  <a:srgbClr val="111827"/>
                </a:solidFill>
                <a:latin typeface="Arial"/>
              </a:rPr>
              <a:t>0  ·  25  ·  50  ·  75 PASS  ·  100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54112" y="4480560"/>
            <a:ext cx="3566160" cy="98755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1" y="469087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>
                <a:solidFill>
                  <a:srgbClr val="AFC4FF"/>
                </a:solidFill>
                <a:latin typeface="Arial"/>
              </a:rPr>
              <a:t>GO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4572000"/>
            <a:ext cx="1828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 / 8 PASS
PASS 기준: 항목별 ≥75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DEPLOYMENT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생성 → 준비 → dry-run → 배포 →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자동화는 재현성을 높이지만, ACL은 테넌트 관리자의 사전 구성과 별도 검증이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track2/data/README.md · TRACK2_M365_Complete_Deployment_Guide.md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956816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7" y="1993392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75104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78608"/>
            <a:ext cx="159105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4748B"/>
                </a:solidFill>
                <a:latin typeface="Arial"/>
              </a:rPr>
              <a:t>npm run generate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2670048" y="2267712"/>
            <a:ext cx="201168" cy="365760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44368" y="1783080"/>
            <a:ext cx="1956816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27248" y="1993392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199339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1975104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578608"/>
            <a:ext cx="159105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4748B"/>
                </a:solidFill>
                <a:latin typeface="Arial"/>
              </a:rPr>
              <a:t>앱·권한·채널</a:t>
            </a:r>
          </a:p>
        </p:txBody>
      </p:sp>
      <p:sp>
        <p:nvSpPr>
          <p:cNvPr id="20" name="Chevron 19"/>
          <p:cNvSpPr/>
          <p:nvPr/>
        </p:nvSpPr>
        <p:spPr>
          <a:xfrm>
            <a:off x="4956048" y="2267712"/>
            <a:ext cx="201168" cy="365760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30368" y="1783080"/>
            <a:ext cx="1956816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13248" y="1993392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99339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1975104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Dry-run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578608"/>
            <a:ext cx="159105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4748B"/>
                </a:solidFill>
                <a:latin typeface="Arial"/>
              </a:rPr>
              <a:t>기본값 · 쓰기 없음</a:t>
            </a:r>
          </a:p>
        </p:txBody>
      </p:sp>
      <p:sp>
        <p:nvSpPr>
          <p:cNvPr id="26" name="Chevron 25"/>
          <p:cNvSpPr/>
          <p:nvPr/>
        </p:nvSpPr>
        <p:spPr>
          <a:xfrm>
            <a:off x="7242048" y="2267712"/>
            <a:ext cx="201168" cy="365760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16368" y="1783080"/>
            <a:ext cx="1956816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99248" y="1993392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199339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975104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Execute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2578608"/>
            <a:ext cx="159105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4748B"/>
                </a:solidFill>
                <a:latin typeface="Arial"/>
              </a:rPr>
              <a:t>운영자 승인 시</a:t>
            </a:r>
          </a:p>
        </p:txBody>
      </p:sp>
      <p:sp>
        <p:nvSpPr>
          <p:cNvPr id="32" name="Chevron 31"/>
          <p:cNvSpPr/>
          <p:nvPr/>
        </p:nvSpPr>
        <p:spPr>
          <a:xfrm>
            <a:off x="9528048" y="2267712"/>
            <a:ext cx="201168" cy="365760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02368" y="1783080"/>
            <a:ext cx="1956816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85248" y="1993392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85248" y="199339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1975104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111827"/>
                </a:solidFill>
                <a:latin typeface="Arial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5248" y="2578608"/>
            <a:ext cx="159105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>
                <a:solidFill>
                  <a:srgbClr val="64748B"/>
                </a:solidFill>
                <a:latin typeface="Arial"/>
              </a:rPr>
              <a:t>링크·건수·ACL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3749039"/>
            <a:ext cx="3401568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2688" y="3931920"/>
            <a:ext cx="10241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3941063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352544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자동 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663440"/>
            <a:ext cx="30358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validate_track1_handoff.py
validate_acl_setup.py
verify_entity_document_mapping.py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37033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0" y="3886200"/>
            <a:ext cx="1024128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3895344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DEGRADED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306824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축소 시드 15건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617720"/>
            <a:ext cx="3035808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비상용 · 정상 준비 아님
소스별 1건 · 키워드 4/5
Track3-ready로 판정하지 않음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28431" y="3749039"/>
            <a:ext cx="3401568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11311" y="3931920"/>
            <a:ext cx="1024128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3941063"/>
            <a:ext cx="9326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64" b="1">
                <a:solidFill>
                  <a:srgbClr val="FFFFFF"/>
                </a:solidFill>
                <a:latin typeface="Arial"/>
              </a:rPr>
              <a:t>GUARDRAIL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1" y="4352544"/>
            <a:ext cx="303580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11827"/>
                </a:solidFill>
                <a:latin typeface="Arial"/>
              </a:rPr>
              <a:t>샘플 테넌트 전용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1" y="4663440"/>
            <a:ext cx="30358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>
                <a:solidFill>
                  <a:srgbClr val="1F2937"/>
                </a:solidFill>
                <a:latin typeface="Arial"/>
              </a:rPr>
              <a:t>실제 임직원 데이터 금지
토큰은 환경변수
실습 종료 후 권한 회수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>
                <a:solidFill>
                  <a:srgbClr val="2563EB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Arial"/>
              </a:rPr>
              <a:t>TRACK3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48" b="1">
                <a:solidFill>
                  <a:srgbClr val="111827"/>
                </a:solidFill>
                <a:latin typeface="Arial"/>
              </a:rPr>
              <a:t>근거와 품질을 재현 가능한 입력으로 전달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247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>
                <a:solidFill>
                  <a:srgbClr val="64748B"/>
                </a:solidFill>
                <a:latin typeface="Arial"/>
              </a:rPr>
              <a:t>Track3는 첫 15분에 이 패키지로 Tool A/B 단독 헬스체크와 Q1 기본 응답을 확인합니다.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b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2" b="0">
                <a:solidFill>
                  <a:srgbClr val="64748B"/>
                </a:solidFill>
                <a:latin typeface="Arial"/>
              </a:rPr>
              <a:t>Source: track2/WORKBOOK.md TRACK3_HANDOFF_PACKAGE · track3/PREREQUISITES.md</a:t>
            </a:r>
          </a:p>
        </p:txBody>
      </p:sp>
      <p:sp>
        <p:nvSpPr>
          <p:cNvPr id="7" name="Oval 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3152" y="6473952"/>
            <a:ext cx="25603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64748B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38528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47672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1920240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4소스 범위
필터 · 갱신 시각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755648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938528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947672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1920240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8항목 점수
미달 항목·조치안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55648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938528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1947672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920240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유효 링크
5건 이상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236976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3419856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42900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79" y="3401568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재현 질의
3개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236976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3419856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42900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401568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우선 이슈 Top3
영향·대응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1312" y="3236976"/>
            <a:ext cx="3364992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94192" y="3419856"/>
            <a:ext cx="9144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342900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>
                <a:solidFill>
                  <a:srgbClr val="FFFFFF"/>
                </a:solidFill>
                <a:latin typeface="Arial"/>
              </a:rPr>
              <a:t>ACL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401568"/>
            <a:ext cx="184708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111827"/>
                </a:solidFill>
                <a:latin typeface="Arial"/>
              </a:rPr>
              <a:t>participant/restricted
live 결과 증적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81328" y="4983480"/>
            <a:ext cx="9235440" cy="74980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73936" y="5193792"/>
            <a:ext cx="2578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>
                <a:solidFill>
                  <a:srgbClr val="AFC4FF"/>
                </a:solidFill>
                <a:latin typeface="Arial"/>
              </a:rPr>
              <a:t>TRACK3 READINESS CRITERIA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5138928"/>
            <a:ext cx="58978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>
                <a:solidFill>
                  <a:srgbClr val="FFFFFF"/>
                </a:solidFill>
                <a:latin typeface="Arial"/>
              </a:rPr>
              <a:t>검색 가능 · live ACL 증적 · 품질 6/8 · 링크 5+ · 질의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Track2 Overview</dc:title>
  <dc:subject>WorkIQ M365 context and cross-source quality workshop</dc:subject>
  <dc:creator>Data Platform Workshop</dc:creator>
  <cp:keywords>FabricIQ, WorkIQ, FoundryIQ, 3-IQ workshop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