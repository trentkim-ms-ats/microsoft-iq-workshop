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75488"/>
            <a:ext cx="2423160" cy="310896"/>
          </a:xfrm>
          <a:prstGeom prst="roundRect">
            <a:avLst/>
          </a:prstGeom>
          <a:solidFill>
            <a:srgbClr val="243252"/>
          </a:solidFill>
          <a:ln w="10160">
            <a:solidFill>
              <a:srgbClr val="243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4846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C6D2EF"/>
                </a:solidFill>
                <a:latin typeface="Arial"/>
              </a:rPr>
              <a:t>ARCHITECTURE EDITION ·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42415"/>
            <a:ext cx="676656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955" b="1">
                <a:solidFill>
                  <a:srgbClr val="FFFFFF"/>
                </a:solidFill>
                <a:latin typeface="Arial"/>
              </a:rPr>
              <a:t>3-IQ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19072"/>
            <a:ext cx="676656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11" b="1">
                <a:solidFill>
                  <a:srgbClr val="B7C8F2"/>
                </a:solidFill>
                <a:latin typeface="Arial"/>
              </a:rPr>
              <a:t>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612648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0">
                <a:solidFill>
                  <a:srgbClr val="D3DCF1"/>
                </a:solidFill>
                <a:latin typeface="Arial"/>
              </a:rPr>
              <a:t>FabricIQ의 정형 신뢰성, WorkIQ의 권한 기반 업무 근거,
FoundryIQ의 결합·평가를 하나의 실행 가능한 워크숍으로 연결</a:t>
            </a:r>
          </a:p>
        </p:txBody>
      </p:sp>
      <p:sp>
        <p:nvSpPr>
          <p:cNvPr id="7" name="Oval 6"/>
          <p:cNvSpPr/>
          <p:nvPr/>
        </p:nvSpPr>
        <p:spPr>
          <a:xfrm>
            <a:off x="7086600" y="1920240"/>
            <a:ext cx="1024128" cy="102412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920240"/>
            <a:ext cx="1024128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>
                <a:solidFill>
                  <a:srgbClr val="FFFFFF"/>
                </a:solidFill>
                <a:latin typeface="Arial"/>
              </a:rPr>
              <a:t>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3017520"/>
            <a:ext cx="12435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FFFFFF"/>
                </a:solidFill>
                <a:latin typeface="Arial"/>
              </a:rPr>
              <a:t>정형 지표
+ Ontology</a:t>
            </a:r>
          </a:p>
        </p:txBody>
      </p:sp>
      <p:sp>
        <p:nvSpPr>
          <p:cNvPr id="10" name="Oval 9"/>
          <p:cNvSpPr/>
          <p:nvPr/>
        </p:nvSpPr>
        <p:spPr>
          <a:xfrm>
            <a:off x="8613648" y="1920240"/>
            <a:ext cx="1024128" cy="102412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3648" y="1920240"/>
            <a:ext cx="1024128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>
                <a:solidFill>
                  <a:srgbClr val="FFFFFF"/>
                </a:solidFill>
                <a:latin typeface="Arial"/>
              </a:rPr>
              <a:t>Wi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017520"/>
            <a:ext cx="12435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FFFFFF"/>
                </a:solidFill>
                <a:latin typeface="Arial"/>
              </a:rPr>
              <a:t>M365 근거
+ ACL</a:t>
            </a:r>
          </a:p>
        </p:txBody>
      </p:sp>
      <p:sp>
        <p:nvSpPr>
          <p:cNvPr id="13" name="Oval 12"/>
          <p:cNvSpPr/>
          <p:nvPr/>
        </p:nvSpPr>
        <p:spPr>
          <a:xfrm>
            <a:off x="10140696" y="1920240"/>
            <a:ext cx="1024128" cy="102412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0696" y="1920240"/>
            <a:ext cx="1024128" cy="1024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50" b="1">
                <a:solidFill>
                  <a:srgbClr val="FFFFFF"/>
                </a:solidFill>
                <a:latin typeface="Arial"/>
              </a:rPr>
              <a:t>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0968" y="3017520"/>
            <a:ext cx="12435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FFFFFF"/>
                </a:solidFill>
                <a:latin typeface="Arial"/>
              </a:rPr>
              <a:t>라우팅·결합
+ 평가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0727" y="2432304"/>
            <a:ext cx="502921" cy="0"/>
          </a:xfrm>
          <a:prstGeom prst="line">
            <a:avLst/>
          </a:prstGeom>
          <a:ln w="25400">
            <a:solidFill>
              <a:srgbClr val="5C6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37776" y="2432304"/>
            <a:ext cx="502920" cy="0"/>
          </a:xfrm>
          <a:prstGeom prst="line">
            <a:avLst/>
          </a:prstGeom>
          <a:ln w="25400">
            <a:solidFill>
              <a:srgbClr val="5C6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" y="4096512"/>
            <a:ext cx="10881360" cy="1508760"/>
          </a:xfrm>
          <a:prstGeom prst="roundRect">
            <a:avLst/>
          </a:prstGeom>
          <a:solidFill>
            <a:srgbClr val="101E3B"/>
          </a:solidFill>
          <a:ln w="10160">
            <a:solidFill>
              <a:srgbClr val="2C3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70832"/>
            <a:ext cx="2011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68" b="1">
                <a:solidFill>
                  <a:srgbClr val="AFC4FF"/>
                </a:solidFill>
                <a:latin typeface="Arial"/>
              </a:rPr>
              <a:t>480분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28032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C8D3EA"/>
                </a:solidFill>
                <a:latin typeface="Arial"/>
              </a:rPr>
              <a:t>09:00–17:00 전체 여정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4370832"/>
            <a:ext cx="2011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68" b="1">
                <a:solidFill>
                  <a:srgbClr val="AFC4FF"/>
                </a:solidFill>
                <a:latin typeface="Arial"/>
              </a:rPr>
              <a:t>3 Tracks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4828032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C8D3EA"/>
                </a:solidFill>
                <a:latin typeface="Arial"/>
              </a:rPr>
              <a:t>Fabric → Work → Foundry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370832"/>
            <a:ext cx="2011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68" b="1">
                <a:solidFill>
                  <a:srgbClr val="AFC4FF"/>
                </a:solidFill>
                <a:latin typeface="Arial"/>
              </a:rPr>
              <a:t>2 Handoffs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828032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C8D3EA"/>
                </a:solidFill>
                <a:latin typeface="Arial"/>
              </a:rPr>
              <a:t>Track2 / Track3 인계 계약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4370832"/>
            <a:ext cx="20116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68" b="1">
                <a:solidFill>
                  <a:srgbClr val="AFC4FF"/>
                </a:solidFill>
                <a:latin typeface="Arial"/>
              </a:rPr>
              <a:t>1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4828032"/>
            <a:ext cx="20116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C8D3EA"/>
                </a:solidFill>
                <a:latin typeface="Arial"/>
              </a:rPr>
              <a:t>수치 + 링크 + 조치안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15584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D5DEEF"/>
                </a:solidFill>
                <a:latin typeface="Arial"/>
              </a:rPr>
              <a:t>Ontology = 세 계층이 같은 비즈니스 대상을 가리키는 공통 어휘</a:t>
            </a:r>
          </a:p>
        </p:txBody>
      </p:sp>
      <p:sp>
        <p:nvSpPr>
          <p:cNvPr id="28" name="Oval 27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94A3B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3-IQ 통합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질문은 FoundryIQ가 라우팅하고, 수치와 업무 근거는 각 IQ 계층이 책임집니다.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240280" cy="86868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2002536"/>
            <a:ext cx="19476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FFFFFF"/>
                </a:solidFill>
                <a:latin typeface="Arial"/>
              </a:rPr>
              <a:t>비즈니스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350008"/>
            <a:ext cx="19476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3" b="0">
                <a:solidFill>
                  <a:srgbClr val="C5D0E6"/>
                </a:solidFill>
                <a:latin typeface="Arial"/>
              </a:rPr>
              <a:t>Q1–Q3 · semantic keys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37360"/>
            <a:ext cx="29718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1865376"/>
            <a:ext cx="267919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FoundryIQ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2212848"/>
            <a:ext cx="267919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3" b="0">
                <a:solidFill>
                  <a:srgbClr val="64748B"/>
                </a:solidFill>
                <a:latin typeface="Arial"/>
              </a:rPr>
              <a:t>라우팅 · 결합 정책 · 평가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874519"/>
            <a:ext cx="224028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75704" y="2002536"/>
            <a:ext cx="19476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Responses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704" y="2350008"/>
            <a:ext cx="19476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3" b="0">
                <a:solidFill>
                  <a:srgbClr val="64748B"/>
                </a:solidFill>
                <a:latin typeface="Arial"/>
              </a:rPr>
              <a:t>근거 기반 최종 문장화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874519"/>
            <a:ext cx="2331720" cy="86868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7464" y="2002536"/>
            <a:ext cx="20391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FFFFFF"/>
                </a:solidFill>
                <a:latin typeface="Arial"/>
              </a:rPr>
              <a:t>리더십 브리핑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7464" y="2350008"/>
            <a:ext cx="203911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3" b="0">
                <a:solidFill>
                  <a:srgbClr val="C5D0E6"/>
                </a:solidFill>
                <a:latin typeface="Arial"/>
              </a:rPr>
              <a:t>수치 · 링크 · 경고 · 조치</a:t>
            </a:r>
          </a:p>
        </p:txBody>
      </p:sp>
      <p:sp>
        <p:nvSpPr>
          <p:cNvPr id="18" name="Chevron 17"/>
          <p:cNvSpPr/>
          <p:nvPr/>
        </p:nvSpPr>
        <p:spPr>
          <a:xfrm>
            <a:off x="2880360" y="2084831"/>
            <a:ext cx="256032" cy="384048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6263640" y="2084831"/>
            <a:ext cx="256032" cy="384048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8915400" y="2084831"/>
            <a:ext cx="256032" cy="384048"/>
          </a:xfrm>
          <a:prstGeom prst="chevron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4343400" y="2743200"/>
            <a:ext cx="0" cy="53035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5303520" y="2743200"/>
            <a:ext cx="2560320" cy="53035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37560" y="2999232"/>
            <a:ext cx="20116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3008375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Tool A · request /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999232"/>
            <a:ext cx="20116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008375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Tool B · request /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456432"/>
            <a:ext cx="4709160" cy="150876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3712463"/>
            <a:ext cx="530352" cy="53035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712463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FFFFFF"/>
                </a:solidFill>
                <a:latin typeface="Arial"/>
              </a:rPr>
              <a:t>Fi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2" y="3621024"/>
            <a:ext cx="14630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24" b="1">
                <a:solidFill>
                  <a:srgbClr val="1D4ED8"/>
                </a:solidFill>
                <a:latin typeface="Arial"/>
              </a:rPr>
              <a:t>FabricIQ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4041648"/>
            <a:ext cx="3383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1F2937"/>
                </a:solidFill>
                <a:latin typeface="Arial"/>
              </a:rPr>
              <a:t>Lakehouse 정형 데이터 · Ontology 관계 경로
검증 가능한 KPI · structured sourceTrace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639312"/>
            <a:ext cx="123444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3648456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정형 기준 소스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2280" y="3456432"/>
            <a:ext cx="4709160" cy="150876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40880" y="3712463"/>
            <a:ext cx="530352" cy="53035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712463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FFFFFF"/>
                </a:solidFill>
                <a:latin typeface="Arial"/>
              </a:rPr>
              <a:t>Wi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3621024"/>
            <a:ext cx="14630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24" b="1">
                <a:solidFill>
                  <a:srgbClr val="1D4ED8"/>
                </a:solidFill>
                <a:latin typeface="Arial"/>
              </a:rPr>
              <a:t>WorkIQ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54112" y="4041648"/>
            <a:ext cx="3383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1F2937"/>
                </a:solidFill>
                <a:latin typeface="Arial"/>
              </a:rPr>
              <a:t>SharePoint · OneDrive · Outlook · Teams
ACL 적용 원문 링크 · source coverage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40" y="3639312"/>
            <a:ext cx="128016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3648456"/>
            <a:ext cx="118871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업무 근거 소스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035808" y="4965192"/>
            <a:ext cx="0" cy="36576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62288" y="4965192"/>
            <a:ext cx="0" cy="36576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417320" y="5349240"/>
            <a:ext cx="9372600" cy="566928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5477256"/>
            <a:ext cx="89154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공통 Ontology semantic keys  |  Campaign · Product · Customer · Order · Payment · Shipment · Return</a:t>
            </a:r>
          </a:p>
        </p:txBody>
      </p:sp>
      <p:sp>
        <p:nvSpPr>
          <p:cNvPr id="45" name="Oval 44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RESPONSIBILITY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세 계층의 책임과 금지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근거 없는 대체를 허용하지 않는 것이 이 워크숍의 핵심 품질 계약입니다.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273552" cy="363931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901952"/>
            <a:ext cx="530352" cy="53035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8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19"/>
            <a:ext cx="19202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2563EB"/>
                </a:solidFill>
                <a:latin typeface="Arial"/>
              </a:rPr>
              <a:t>FabricIQ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2542032"/>
            <a:ext cx="6400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51175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책임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487168"/>
            <a:ext cx="1965960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F2937"/>
                </a:solidFill>
                <a:latin typeface="Arial"/>
              </a:rPr>
              <a:t>정형 KPI 계산
Ontology 엔터티·관계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3493008"/>
            <a:ext cx="640080" cy="31089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502151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438144"/>
            <a:ext cx="19659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DC2626"/>
                </a:solidFill>
                <a:latin typeface="Arial"/>
              </a:rPr>
              <a:t>WorkIQ 문서에서
정형 수치 역산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" y="4352544"/>
            <a:ext cx="6400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361688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증명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297680"/>
            <a:ext cx="1965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0">
                <a:solidFill>
                  <a:srgbClr val="1F2937"/>
                </a:solidFill>
                <a:latin typeface="Arial"/>
              </a:rPr>
              <a:t>기준값 · 관계 경로 · lineage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1691640"/>
            <a:ext cx="3273552" cy="363931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901952"/>
            <a:ext cx="530352" cy="53035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90195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8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1874519"/>
            <a:ext cx="19202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2563EB"/>
                </a:solidFill>
                <a:latin typeface="Arial"/>
              </a:rPr>
              <a:t>WorkIQ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542032"/>
            <a:ext cx="6400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551175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책임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487168"/>
            <a:ext cx="1965960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F2937"/>
                </a:solidFill>
                <a:latin typeface="Arial"/>
              </a:rPr>
              <a:t>권한 적용 M365 검색
원문 링크·업무 맥락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493008"/>
            <a:ext cx="640080" cy="31089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502151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금지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3438144"/>
            <a:ext cx="19659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DC2626"/>
                </a:solidFill>
                <a:latin typeface="Arial"/>
              </a:rPr>
              <a:t>FabricIQ 결과를
비정형 근거처럼 사용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352544"/>
            <a:ext cx="6400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361688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증명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297680"/>
            <a:ext cx="1965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0">
                <a:solidFill>
                  <a:srgbClr val="1F2937"/>
                </a:solidFill>
                <a:latin typeface="Arial"/>
              </a:rPr>
              <a:t>ACL · evidenceLinks · coverage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2672" y="1691640"/>
            <a:ext cx="3273552" cy="363931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91272" y="1901952"/>
            <a:ext cx="530352" cy="53035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2" y="1901952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88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58784" y="1874519"/>
            <a:ext cx="19202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60" b="1">
                <a:solidFill>
                  <a:srgbClr val="2563EB"/>
                </a:solidFill>
                <a:latin typeface="Arial"/>
              </a:rPr>
              <a:t>FoundryIQ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91272" y="2542032"/>
            <a:ext cx="6400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2551175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책임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22792" y="2487168"/>
            <a:ext cx="1965960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F2937"/>
                </a:solidFill>
                <a:latin typeface="Arial"/>
              </a:rPr>
              <a:t>Tool 라우팅·결합
평가·fallback·문장화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91272" y="3493008"/>
            <a:ext cx="640080" cy="31089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36992" y="3502151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금지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3438144"/>
            <a:ext cx="19659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DC2626"/>
                </a:solidFill>
                <a:latin typeface="Arial"/>
              </a:rPr>
              <a:t>근거 없는 수치·링크
성공 형태의 오류 은폐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91272" y="4352544"/>
            <a:ext cx="6400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36992" y="4361688"/>
            <a:ext cx="548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증명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22792" y="4297680"/>
            <a:ext cx="1965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0">
                <a:solidFill>
                  <a:srgbClr val="1F2937"/>
                </a:solidFill>
                <a:latin typeface="Arial"/>
              </a:rPr>
              <a:t>sourceTrace · warnings · report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01952" y="5532120"/>
            <a:ext cx="8385048" cy="530352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48840" y="5641848"/>
            <a:ext cx="789127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공통 계약  |  세 계층 모두 동일한 Ontology semantic keys를 보존</a:t>
            </a:r>
          </a:p>
        </p:txBody>
      </p:sp>
      <p:sp>
        <p:nvSpPr>
          <p:cNvPr id="47" name="Oval 4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TRACK 1 · FABRICIQ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정형 데이터에서 AI 친화적 Ontology까지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14개 CSV의 의도된 품질 이슈를 정리하고, 계산·검증 가능한 시맨틱 기반을 만듭니다.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55448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993392"/>
            <a:ext cx="530352" cy="310896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0253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414016"/>
            <a:ext cx="1225296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11827"/>
                </a:solidFill>
                <a:latin typeface="Arial"/>
              </a:rPr>
              <a:t>CSV 14종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88920"/>
            <a:ext cx="12252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고객 · 주문 · 결제
배송 · 반품 · 재고</a:t>
            </a:r>
          </a:p>
        </p:txBody>
      </p:sp>
      <p:sp>
        <p:nvSpPr>
          <p:cNvPr id="11" name="Chevron 10"/>
          <p:cNvSpPr/>
          <p:nvPr/>
        </p:nvSpPr>
        <p:spPr>
          <a:xfrm>
            <a:off x="2112264" y="2615184"/>
            <a:ext cx="256032" cy="384048"/>
          </a:xfrm>
          <a:prstGeom prst="chevron">
            <a:avLst/>
          </a:prstGeom>
          <a:solidFill>
            <a:srgbClr val="B8C4D8"/>
          </a:solidFill>
          <a:ln w="508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04872" y="1828800"/>
            <a:ext cx="155448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9464" y="1993392"/>
            <a:ext cx="530352" cy="310896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200253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2414016"/>
            <a:ext cx="1225296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11827"/>
                </a:solidFill>
                <a:latin typeface="Arial"/>
              </a:rPr>
              <a:t>Lakehouse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9464" y="2788920"/>
            <a:ext cx="12252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마스터 → 거래
→ 브릿지 적재</a:t>
            </a:r>
          </a:p>
        </p:txBody>
      </p:sp>
      <p:sp>
        <p:nvSpPr>
          <p:cNvPr id="17" name="Chevron 16"/>
          <p:cNvSpPr/>
          <p:nvPr/>
        </p:nvSpPr>
        <p:spPr>
          <a:xfrm>
            <a:off x="4014215" y="2615184"/>
            <a:ext cx="256032" cy="384048"/>
          </a:xfrm>
          <a:prstGeom prst="chevron">
            <a:avLst/>
          </a:prstGeom>
          <a:solidFill>
            <a:srgbClr val="B8C4D8"/>
          </a:solidFill>
          <a:ln w="508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4" y="1828800"/>
            <a:ext cx="155448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1416" y="1993392"/>
            <a:ext cx="530352" cy="310896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200253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2414016"/>
            <a:ext cx="1225296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11827"/>
                </a:solidFill>
                <a:latin typeface="Arial"/>
              </a:rPr>
              <a:t>프로파일링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788920"/>
            <a:ext cx="12252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결측 · 중복 · FK
금액 · 코드셋</a:t>
            </a:r>
          </a:p>
        </p:txBody>
      </p:sp>
      <p:sp>
        <p:nvSpPr>
          <p:cNvPr id="23" name="Chevron 22"/>
          <p:cNvSpPr/>
          <p:nvPr/>
        </p:nvSpPr>
        <p:spPr>
          <a:xfrm>
            <a:off x="5916168" y="2615184"/>
            <a:ext cx="256032" cy="384048"/>
          </a:xfrm>
          <a:prstGeom prst="chevron">
            <a:avLst/>
          </a:prstGeom>
          <a:solidFill>
            <a:srgbClr val="B8C4D8"/>
          </a:solidFill>
          <a:ln w="508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8776" y="1828800"/>
            <a:ext cx="155448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3368" y="1993392"/>
            <a:ext cx="530352" cy="310896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200253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414016"/>
            <a:ext cx="1225296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11827"/>
                </a:solidFill>
                <a:latin typeface="Arial"/>
              </a:rPr>
              <a:t>표준화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788920"/>
            <a:ext cx="12252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키 · 타입 · 상태
날짜 · 통화</a:t>
            </a:r>
          </a:p>
        </p:txBody>
      </p:sp>
      <p:sp>
        <p:nvSpPr>
          <p:cNvPr id="29" name="Chevron 28"/>
          <p:cNvSpPr/>
          <p:nvPr/>
        </p:nvSpPr>
        <p:spPr>
          <a:xfrm>
            <a:off x="7818120" y="2615184"/>
            <a:ext cx="256032" cy="384048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0728" y="1828800"/>
            <a:ext cx="1554480" cy="196596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75320" y="1993392"/>
            <a:ext cx="530352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00253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414016"/>
            <a:ext cx="1225296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D4ED8"/>
                </a:solidFill>
                <a:latin typeface="Arial"/>
              </a:rPr>
              <a:t>Ontology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788920"/>
            <a:ext cx="12252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10–16 엔터티
15–25 관계</a:t>
            </a:r>
          </a:p>
        </p:txBody>
      </p:sp>
      <p:sp>
        <p:nvSpPr>
          <p:cNvPr id="35" name="Chevron 34"/>
          <p:cNvSpPr/>
          <p:nvPr/>
        </p:nvSpPr>
        <p:spPr>
          <a:xfrm>
            <a:off x="9720072" y="2615184"/>
            <a:ext cx="256032" cy="384048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12680" y="1828800"/>
            <a:ext cx="1554480" cy="196596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77272" y="1993392"/>
            <a:ext cx="530352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22992" y="2002536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272" y="2414016"/>
            <a:ext cx="1225296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D4ED8"/>
                </a:solidFill>
                <a:latin typeface="Arial"/>
              </a:rPr>
              <a:t>구조 검증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2788920"/>
            <a:ext cx="122529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관계 · PK/FK
lineage · 기준값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224528"/>
            <a:ext cx="6720840" cy="141732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425696"/>
            <a:ext cx="34747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1D4ED8"/>
                </a:solidFill>
                <a:latin typeface="Arial"/>
              </a:rPr>
              <a:t>TRACK2 HANDOFF PACKAGE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800600"/>
            <a:ext cx="598932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0">
                <a:solidFill>
                  <a:srgbClr val="1F2937"/>
                </a:solidFill>
                <a:latin typeface="Arial"/>
              </a:rPr>
              <a:t>Workspace / Ontology IDs · 핵심 경로 · Entity 매핑 · 검색 키워드
미해결 이슈 Top3 · 구조 검증 로그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62672" y="4224528"/>
            <a:ext cx="3840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4425696"/>
            <a:ext cx="16002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2563EB"/>
                </a:solidFill>
                <a:latin typeface="Arial"/>
              </a:rPr>
              <a:t>Track1 Exit Gate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4791456"/>
            <a:ext cx="3154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0">
                <a:solidFill>
                  <a:srgbClr val="1F2937"/>
                </a:solidFill>
                <a:latin typeface="Arial"/>
              </a:rPr>
              <a:t>정형 기준값 재현
Ontology 경로·매핑 증적
미해결 이슈 우회안</a:t>
            </a:r>
          </a:p>
        </p:txBody>
      </p:sp>
      <p:sp>
        <p:nvSpPr>
          <p:cNvPr id="47" name="Oval 4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TRACK 2 · WORKIQ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M365 업무 근거와 크로스 소스 품질 게이트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같은 Ontology 키로 4대 M365 소스를 찾고, ACL·원본 링크·품질 점수를 Track3에 인계합니다.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00784"/>
            <a:ext cx="1965960" cy="117043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47088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1D4ED8"/>
                </a:solidFill>
                <a:latin typeface="Arial"/>
              </a:rPr>
              <a:t>SharePoint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21408"/>
            <a:ext cx="169164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15 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523744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기획서 · 리포트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45336" y="2871216"/>
            <a:ext cx="0" cy="365760"/>
          </a:xfrm>
          <a:prstGeom prst="line">
            <a:avLst/>
          </a:prstGeom>
          <a:ln w="190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700784"/>
            <a:ext cx="1965960" cy="117043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1847088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1D4ED8"/>
                </a:solidFill>
                <a:latin typeface="Arial"/>
              </a:rPr>
              <a:t>Outlook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121408"/>
            <a:ext cx="169164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15 EML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523744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이슈 · 의사결정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67328" y="2871216"/>
            <a:ext cx="0" cy="365760"/>
          </a:xfrm>
          <a:prstGeom prst="line">
            <a:avLst/>
          </a:prstGeom>
          <a:ln w="190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10912" y="1700784"/>
            <a:ext cx="1965960" cy="117043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8072" y="1847088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1D4ED8"/>
                </a:solidFill>
                <a:latin typeface="Arial"/>
              </a:rPr>
              <a:t>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2121408"/>
            <a:ext cx="169164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18 threads
55 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2523744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CS · 재고 · 물류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2871216"/>
            <a:ext cx="0" cy="365760"/>
          </a:xfrm>
          <a:prstGeom prst="line">
            <a:avLst/>
          </a:prstGeom>
          <a:ln w="190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32904" y="1700784"/>
            <a:ext cx="1965960" cy="117043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1847088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1D4ED8"/>
                </a:solidFill>
                <a:latin typeface="Arial"/>
              </a:rPr>
              <a:t>OneDrive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121408"/>
            <a:ext cx="169164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12 DOCX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523744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64748B"/>
                </a:solidFill>
                <a:latin typeface="Arial"/>
              </a:rPr>
              <a:t>회의 · 브리핑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11312" y="2871216"/>
            <a:ext cx="0" cy="365760"/>
          </a:xfrm>
          <a:prstGeom prst="line">
            <a:avLst/>
          </a:prstGeom>
          <a:ln w="190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74352" y="1700784"/>
            <a:ext cx="1938528" cy="117043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1847088"/>
            <a:ext cx="15727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2563EB"/>
                </a:solidFill>
                <a:latin typeface="Arial"/>
              </a:rPr>
              <a:t>Track1 인계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212848"/>
            <a:ext cx="1572768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1F2937"/>
                </a:solidFill>
                <a:latin typeface="Arial"/>
              </a:rPr>
              <a:t>Ontology keys
+ issues Top3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43616" y="2871216"/>
            <a:ext cx="0" cy="36576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88920" y="3236976"/>
            <a:ext cx="6601968" cy="74980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3401568"/>
            <a:ext cx="6144768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FFFFF"/>
                </a:solidFill>
                <a:latin typeface="Arial"/>
              </a:rPr>
              <a:t>WorkIQ 검색 · 인덱스 범위 · ACL / Security trimming · 원본 링크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9904" y="3986784"/>
            <a:ext cx="0" cy="347472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9808" y="4352544"/>
            <a:ext cx="6931152" cy="13075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51713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D4ED8"/>
                </a:solidFill>
                <a:latin typeface="Arial"/>
              </a:rPr>
              <a:t>QUALITY GATE · 8 DIMENSIONS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800600"/>
            <a:ext cx="635508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1F2937"/>
                </a:solidFill>
                <a:latin typeface="Arial"/>
              </a:rPr>
              <a:t>정확성 · 완전성 · 일관성 · 유효성
중복성 · 참조무결성 · 적시성 · 추적성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376672"/>
            <a:ext cx="6355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34" b="1">
                <a:solidFill>
                  <a:srgbClr val="1D4ED8"/>
                </a:solidFill>
                <a:latin typeface="Arial"/>
              </a:rPr>
              <a:t>6 / 8 PASS  ·  항목별 75점 이상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3568" y="4352544"/>
            <a:ext cx="3630168" cy="130759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535424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D4ED8"/>
                </a:solidFill>
                <a:latin typeface="Arial"/>
              </a:rPr>
              <a:t>TRACK3_HANDOFF_PACKAGE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882896"/>
            <a:ext cx="310896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0">
                <a:solidFill>
                  <a:srgbClr val="1F2937"/>
                </a:solidFill>
                <a:latin typeface="Arial"/>
              </a:rPr>
              <a:t>인덱스 · 품질 점수
근거 링크 5건 · 재현 질의 3개</a:t>
            </a:r>
          </a:p>
        </p:txBody>
      </p:sp>
      <p:sp>
        <p:nvSpPr>
          <p:cNvPr id="40" name="Oval 39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TRACK 3 · FOUNDRYIQ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런타임 오케스트레이션과 응답 계약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FoundryIQ는 두 도구를 호출하고, 소스 책임을 보존한 채 Responses API로 최종 문장을 만듭니다.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37360"/>
            <a:ext cx="1938528" cy="86868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83664"/>
            <a:ext cx="149961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FFFFF"/>
                </a:solidFill>
                <a:latin typeface="Arial"/>
              </a:rPr>
              <a:t>Q1–Q3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9424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BAC6E1"/>
                </a:solidFill>
                <a:latin typeface="Arial"/>
              </a:rPr>
              <a:t>scenarioId · semanticKeys</a:t>
            </a:r>
          </a:p>
        </p:txBody>
      </p:sp>
      <p:sp>
        <p:nvSpPr>
          <p:cNvPr id="9" name="Chevron 8"/>
          <p:cNvSpPr/>
          <p:nvPr/>
        </p:nvSpPr>
        <p:spPr>
          <a:xfrm>
            <a:off x="2596896" y="1938528"/>
            <a:ext cx="310896" cy="420624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35808" y="1627632"/>
            <a:ext cx="2971800" cy="10972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79222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1D4ED8"/>
                </a:solidFill>
                <a:latin typeface="Arial"/>
              </a:rPr>
              <a:t>FoundryIQ 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176272"/>
            <a:ext cx="24231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질문 분해 · Tool A/B 라우팅
정책 결합 · fallback · strict 평가</a:t>
            </a:r>
          </a:p>
        </p:txBody>
      </p:sp>
      <p:sp>
        <p:nvSpPr>
          <p:cNvPr id="13" name="Chevron 12"/>
          <p:cNvSpPr/>
          <p:nvPr/>
        </p:nvSpPr>
        <p:spPr>
          <a:xfrm>
            <a:off x="6144768" y="1938528"/>
            <a:ext cx="310896" cy="420624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65392" y="1737360"/>
            <a:ext cx="2057400" cy="8686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883664"/>
            <a:ext cx="16184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Responses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249424"/>
            <a:ext cx="1618488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4748B"/>
                </a:solidFill>
                <a:latin typeface="Arial"/>
              </a:rPr>
              <a:t>최종 문장화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9952" y="1938528"/>
            <a:ext cx="310896" cy="420624"/>
          </a:xfrm>
          <a:prstGeom prst="chevron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71432" y="1627632"/>
            <a:ext cx="2468880" cy="109728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810512"/>
            <a:ext cx="193852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FFFFF"/>
                </a:solidFill>
                <a:latin typeface="Arial"/>
              </a:rPr>
              <a:t>근거 기반 응답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176272"/>
            <a:ext cx="193852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3" b="0">
                <a:solidFill>
                  <a:srgbClr val="C7D1E7"/>
                </a:solidFill>
                <a:latin typeface="Arial"/>
              </a:rPr>
              <a:t>핵심 수치 · 문서 링크
sourceTrace · warnings · 조치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977639" y="2724912"/>
            <a:ext cx="0" cy="585216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5074920" y="2724912"/>
            <a:ext cx="3136392" cy="585216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73552" y="2980944"/>
            <a:ext cx="141732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2990087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structured result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980944"/>
            <a:ext cx="141732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2990087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evidence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401568"/>
            <a:ext cx="4846320" cy="14630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3611880"/>
            <a:ext cx="22402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621024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TOOL A · FABRICIQ ADAPTER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023360"/>
            <a:ext cx="4754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요청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4005072"/>
            <a:ext cx="3566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1F2937"/>
                </a:solidFill>
                <a:latin typeface="Arial"/>
              </a:rPr>
              <a:t>scenarioId · question · semanticKeys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70832"/>
            <a:ext cx="4754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1D4ED8"/>
                </a:solidFill>
                <a:latin typeface="Arial"/>
              </a:rPr>
              <a:t>응답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4352544"/>
            <a:ext cx="3566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1D4ED8"/>
                </a:solidFill>
                <a:latin typeface="Arial"/>
              </a:rPr>
              <a:t>structuredMetrics · highlights · sourceTrace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3401568"/>
            <a:ext cx="4846320" cy="146304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31152" y="3611880"/>
            <a:ext cx="2176272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76872" y="3621024"/>
            <a:ext cx="2084831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TOOL B · WORKIQ ADAPTER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4023360"/>
            <a:ext cx="4754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요청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1504" y="4005072"/>
            <a:ext cx="3566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0">
                <a:solidFill>
                  <a:srgbClr val="1F2937"/>
                </a:solidFill>
                <a:latin typeface="Arial"/>
              </a:rPr>
              <a:t>scenarioId · question · semanticKeys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4370832"/>
            <a:ext cx="47548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1D4ED8"/>
                </a:solidFill>
                <a:latin typeface="Arial"/>
              </a:rPr>
              <a:t>응답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1504" y="4352544"/>
            <a:ext cx="3566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1D4ED8"/>
                </a:solidFill>
                <a:latin typeface="Arial"/>
              </a:rPr>
              <a:t>evidenceLinks[] · sourceCoverage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34440" y="5193792"/>
            <a:ext cx="973836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508760" y="5394960"/>
            <a:ext cx="297180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54480" y="5404104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FFFFFF"/>
                </a:solidFill>
                <a:latin typeface="Arial"/>
              </a:rPr>
              <a:t>FabricIQ  →  metrics + sourceTrace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45152" y="5394960"/>
            <a:ext cx="269748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0872" y="5404104"/>
            <a:ext cx="26060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FFFFFF"/>
                </a:solidFill>
                <a:latin typeface="Arial"/>
              </a:rPr>
              <a:t>WorkIQ  →  links + coverage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1231" y="5376672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DC2626"/>
                </a:solidFill>
                <a:latin typeface="Arial"/>
              </a:rPr>
              <a:t>오류를 빈 성공 응답으로 숨기지 않음</a:t>
            </a:r>
          </a:p>
        </p:txBody>
      </p:sp>
      <p:sp>
        <p:nvSpPr>
          <p:cNvPr id="47" name="Oval 46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EXECUTION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simulation과 live는 같은 정책, 다른 증거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simulation은 교육·회귀용 reference harness이며 실제 서비스 연결 성공을 의미하지 않습니다.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48255"/>
            <a:ext cx="1170432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057399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FFFFFF"/>
                </a:solidFill>
                <a:latin typeface="Arial"/>
              </a:rPr>
              <a:t>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1952" y="1755648"/>
            <a:ext cx="1627632" cy="117043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956816"/>
            <a:ext cx="13167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75" b="1">
                <a:solidFill>
                  <a:srgbClr val="1D4ED8"/>
                </a:solidFill>
                <a:latin typeface="Arial"/>
              </a:rPr>
              <a:t>Track1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67712"/>
            <a:ext cx="131673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64748B"/>
                </a:solidFill>
                <a:latin typeface="Arial"/>
              </a:rPr>
              <a:t>FabricIQ
fixture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755648"/>
            <a:ext cx="1627632" cy="1170432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1956816"/>
            <a:ext cx="13167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75" b="1">
                <a:solidFill>
                  <a:srgbClr val="1D4ED8"/>
                </a:solidFill>
                <a:latin typeface="Arial"/>
              </a:rPr>
              <a:t>Track2 manifest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267712"/>
            <a:ext cx="131673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64748B"/>
                </a:solidFill>
                <a:latin typeface="Arial"/>
              </a:rPr>
              <a:t>WorkIQ
fixture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670048"/>
            <a:ext cx="19385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2679191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PARALLEL INPUTS</a:t>
            </a:r>
          </a:p>
        </p:txBody>
      </p:sp>
      <p:sp>
        <p:nvSpPr>
          <p:cNvPr id="16" name="Chevron 15"/>
          <p:cNvSpPr/>
          <p:nvPr/>
        </p:nvSpPr>
        <p:spPr>
          <a:xfrm>
            <a:off x="5468112" y="2103120"/>
            <a:ext cx="274320" cy="438912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4206240"/>
            <a:ext cx="1170432" cy="310896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215384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FFFFFF"/>
                </a:solidFill>
                <a:latin typeface="Arial"/>
              </a:rP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1952" y="3913632"/>
            <a:ext cx="1627632" cy="117043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4114800"/>
            <a:ext cx="13167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75" b="1">
                <a:solidFill>
                  <a:srgbClr val="1D4ED8"/>
                </a:solidFill>
                <a:latin typeface="Arial"/>
              </a:rPr>
              <a:t>Fabric 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425696"/>
            <a:ext cx="131673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64748B"/>
                </a:solidFill>
                <a:latin typeface="Arial"/>
              </a:rPr>
              <a:t>FABRICIQ
ENDPOINT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3913632"/>
            <a:ext cx="1627632" cy="117043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8768" y="4114800"/>
            <a:ext cx="1316736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75" b="1">
                <a:solidFill>
                  <a:srgbClr val="1D4ED8"/>
                </a:solidFill>
                <a:latin typeface="Arial"/>
              </a:rPr>
              <a:t>Work adapter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4425696"/>
            <a:ext cx="1316736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64748B"/>
                </a:solidFill>
                <a:latin typeface="Arial"/>
              </a:rPr>
              <a:t>WORKIQ
ENDPOINT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4828032"/>
            <a:ext cx="19385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79" y="4837176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PARALLEL INPUTS</a:t>
            </a:r>
          </a:p>
        </p:txBody>
      </p:sp>
      <p:sp>
        <p:nvSpPr>
          <p:cNvPr id="27" name="Chevron 26"/>
          <p:cNvSpPr/>
          <p:nvPr/>
        </p:nvSpPr>
        <p:spPr>
          <a:xfrm>
            <a:off x="5468112" y="4261104"/>
            <a:ext cx="274320" cy="438912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33872" y="1847088"/>
            <a:ext cx="2578608" cy="3163824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39712" y="2121408"/>
            <a:ext cx="566928" cy="56692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9712" y="2121408"/>
            <a:ext cx="56692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834640"/>
            <a:ext cx="199339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1D4ED8"/>
                </a:solidFill>
                <a:latin typeface="Arial"/>
              </a:rPr>
              <a:t>Shared Orchestrator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3310128"/>
            <a:ext cx="1956816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F2937"/>
                </a:solidFill>
                <a:latin typeface="Arial"/>
              </a:rPr>
              <a:t>동일 response schema
동일 strict evaluator
동일 fallback policy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4315968"/>
            <a:ext cx="1481328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4325112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Responses API</a:t>
            </a:r>
          </a:p>
        </p:txBody>
      </p:sp>
      <p:sp>
        <p:nvSpPr>
          <p:cNvPr id="35" name="Chevron 34"/>
          <p:cNvSpPr/>
          <p:nvPr/>
        </p:nvSpPr>
        <p:spPr>
          <a:xfrm>
            <a:off x="8577072" y="2139696"/>
            <a:ext cx="274320" cy="438912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evron 35"/>
          <p:cNvSpPr/>
          <p:nvPr/>
        </p:nvSpPr>
        <p:spPr>
          <a:xfrm>
            <a:off x="8577072" y="4297680"/>
            <a:ext cx="274320" cy="438912"/>
          </a:xfrm>
          <a:prstGeom prst="chevron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61120" y="1755648"/>
            <a:ext cx="2670048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0576" y="1965960"/>
            <a:ext cx="2231136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11827"/>
                </a:solidFill>
                <a:latin typeface="Arial"/>
              </a:rPr>
              <a:t>교육 · 회귀 · 오프라인 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2414016"/>
            <a:ext cx="223113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4" b="0">
                <a:solidFill>
                  <a:srgbClr val="DC2626"/>
                </a:solidFill>
                <a:latin typeface="Arial"/>
              </a:rPr>
              <a:t>실제 권한·네트워크는 미증명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3913632"/>
            <a:ext cx="2670048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0576" y="4123944"/>
            <a:ext cx="2231136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11827"/>
                </a:solidFill>
                <a:latin typeface="Arial"/>
              </a:rPr>
              <a:t>실제 연결 · 데모 · 운영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0576" y="4572000"/>
            <a:ext cx="223113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74" b="0">
                <a:solidFill>
                  <a:srgbClr val="1D4ED8"/>
                </a:solidFill>
                <a:latin typeface="Arial"/>
              </a:rPr>
              <a:t>ACL·오류를 명시적으로 표면화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08760" y="5532120"/>
            <a:ext cx="9189720" cy="530352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83080" y="5641848"/>
            <a:ext cx="8641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공통 통제  |  sourceTrace 분리 · 5s → 10s → 20s · 부분응답 경고 · release version</a:t>
            </a:r>
          </a:p>
        </p:txBody>
      </p:sp>
      <p:sp>
        <p:nvSpPr>
          <p:cNvPr id="45" name="Oval 44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RESILIENCE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fallback 상태 머신과 부분응답 정책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오류를 숨기지 않고, 신뢰 가능한 범위만 제공한 뒤 복구 후 다시 평가합니다.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91640"/>
            <a:ext cx="2423160" cy="114300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74519"/>
            <a:ext cx="1984248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DC2626"/>
                </a:solidFill>
                <a:latin typeface="Arial"/>
              </a:rPr>
              <a:t>일시 오류 429 / 5xx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198424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재시도 가능한 오류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29968"/>
            <a:ext cx="310896" cy="420624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21024" y="1691640"/>
            <a:ext cx="2743200" cy="114300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874519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1F2937"/>
                </a:solidFill>
                <a:latin typeface="Arial"/>
              </a:rPr>
              <a:t>초기 호출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810512"/>
            <a:ext cx="384048" cy="38404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810512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5s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1810512"/>
            <a:ext cx="384048" cy="38404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810512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10s</a:t>
            </a:r>
          </a:p>
        </p:txBody>
      </p:sp>
      <p:sp>
        <p:nvSpPr>
          <p:cNvPr id="16" name="Oval 15"/>
          <p:cNvSpPr/>
          <p:nvPr/>
        </p:nvSpPr>
        <p:spPr>
          <a:xfrm>
            <a:off x="5623560" y="1810512"/>
            <a:ext cx="384048" cy="38404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810512"/>
            <a:ext cx="38404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20s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2322576"/>
            <a:ext cx="226771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64748B"/>
                </a:solidFill>
                <a:latin typeface="Arial"/>
              </a:rPr>
              <a:t>최대 3회 재시도 · 총 4회 시도</a:t>
            </a:r>
          </a:p>
        </p:txBody>
      </p:sp>
      <p:sp>
        <p:nvSpPr>
          <p:cNvPr id="19" name="Chevron 18"/>
          <p:cNvSpPr/>
          <p:nvPr/>
        </p:nvSpPr>
        <p:spPr>
          <a:xfrm>
            <a:off x="6492240" y="2029968"/>
            <a:ext cx="310896" cy="420624"/>
          </a:xfrm>
          <a:prstGeom prst="chevron">
            <a:avLst/>
          </a:prstGeom>
          <a:solidFill>
            <a:srgbClr val="2563EB"/>
          </a:solidFill>
          <a:ln w="50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31152" y="1691640"/>
            <a:ext cx="4645152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4" y="1847088"/>
            <a:ext cx="178308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1D4ED8"/>
                </a:solidFill>
                <a:latin typeface="Arial"/>
              </a:rPr>
              <a:t>정책 + 평가 게이트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1828800"/>
            <a:ext cx="2331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1F2937"/>
                </a:solidFill>
                <a:latin typeface="Arial"/>
              </a:rPr>
              <a:t>수치 정확성 · 링크 유효성 · sourceTrace
PASS / PARTIAL / BLOCKED 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304288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DC2626"/>
                </a:solidFill>
                <a:latin typeface="Arial"/>
              </a:rPr>
              <a:t>PARTIAL → 복구 후 동일 질문 재평가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53728" y="2834640"/>
            <a:ext cx="0" cy="347472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65376" y="3182112"/>
            <a:ext cx="8805672" cy="0"/>
          </a:xfrm>
          <a:prstGeom prst="line">
            <a:avLst/>
          </a:prstGeom>
          <a:ln w="1524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3182112"/>
            <a:ext cx="0" cy="36576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1792" y="3547872"/>
            <a:ext cx="2487168" cy="17830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" y="3712463"/>
            <a:ext cx="804672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721607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142232"/>
            <a:ext cx="219456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Tool A 실패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535424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WorkIQ 근거만 제한 제공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937760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DC2626"/>
                </a:solidFill>
                <a:latin typeface="Arial"/>
              </a:rPr>
              <a:t>남은 소스: WorkIQ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00600" y="3182112"/>
            <a:ext cx="0" cy="36576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557016" y="3547872"/>
            <a:ext cx="2487168" cy="178308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39896" y="3712463"/>
            <a:ext cx="804672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85615" y="3721607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PARTIAL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9896" y="4142232"/>
            <a:ext cx="219456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2563EB"/>
                </a:solidFill>
                <a:latin typeface="Arial"/>
              </a:rPr>
              <a:t>Tool B 실패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9896" y="4535424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FabricIQ 수치만 제한 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9896" y="4937760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DC2626"/>
                </a:solidFill>
                <a:latin typeface="Arial"/>
              </a:rPr>
              <a:t>남은 소스: FabricIQ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735823" y="3182112"/>
            <a:ext cx="0" cy="365760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492240" y="3547872"/>
            <a:ext cx="2487168" cy="178308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75120" y="3712463"/>
            <a:ext cx="804672" cy="310896"/>
          </a:xfrm>
          <a:prstGeom prst="roundRect">
            <a:avLst/>
          </a:prstGeom>
          <a:solidFill>
            <a:srgbClr val="DC262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3721607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BLOCKED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142232"/>
            <a:ext cx="219456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DC2626"/>
                </a:solidFill>
                <a:latin typeface="Arial"/>
              </a:rPr>
              <a:t>A/B 모두 실패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535424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최종 답변 생성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937760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DC2626"/>
                </a:solidFill>
                <a:latin typeface="Arial"/>
              </a:rPr>
              <a:t>원인 + 복구 조치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671048" y="3182112"/>
            <a:ext cx="0" cy="365760"/>
          </a:xfrm>
          <a:prstGeom prst="line">
            <a:avLst/>
          </a:prstGeom>
          <a:ln w="152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427464" y="3547872"/>
            <a:ext cx="2487168" cy="1783080"/>
          </a:xfrm>
          <a:prstGeom prst="roundRect">
            <a:avLst/>
          </a:prstGeom>
          <a:solidFill>
            <a:srgbClr val="E9F8EE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10344" y="3712463"/>
            <a:ext cx="804672" cy="310896"/>
          </a:xfrm>
          <a:prstGeom prst="round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56064" y="3721607"/>
            <a:ext cx="713232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10344" y="4142232"/>
            <a:ext cx="219456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6A34A"/>
                </a:solidFill>
                <a:latin typeface="Arial"/>
              </a:rPr>
              <a:t>A/B 정상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10344" y="4535424"/>
            <a:ext cx="2103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수치 + 근거 + 조치 결합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10344" y="4937760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167D39"/>
                </a:solidFill>
                <a:latin typeface="Arial"/>
              </a:rPr>
              <a:t>strict 평가 통과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47088" y="5623560"/>
            <a:ext cx="8503920" cy="438912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5705856"/>
            <a:ext cx="80832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FFFFFF"/>
                </a:solidFill>
                <a:latin typeface="Arial"/>
              </a:rPr>
              <a:t>결과를 숨기지 않음  |  PASS / PARTIAL / BLOCKED를 명시하고 복구 경로를 함께 기록</a:t>
            </a:r>
          </a:p>
        </p:txBody>
      </p:sp>
      <p:sp>
        <p:nvSpPr>
          <p:cNvPr id="56" name="Oval 55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WORKSHOP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480분 학습 여정과 인계 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각 Track은 독립 실습이 아니라 다음 Track의 입력 계약을 생산합니다.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10512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11827"/>
                </a:solidFill>
                <a:latin typeface="Arial"/>
              </a:rPr>
              <a:t>오전  |  09:00–12:40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1563624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09:00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1810512"/>
            <a:ext cx="1645920" cy="841248"/>
          </a:xfrm>
          <a:prstGeom prst="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19202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오프닝·개념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2267712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35분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2504" y="2029968"/>
            <a:ext cx="164592" cy="329184"/>
          </a:xfrm>
          <a:prstGeom prst="chevron">
            <a:avLst/>
          </a:prstGeom>
          <a:solidFill>
            <a:srgbClr val="C2CBD9"/>
          </a:solidFill>
          <a:ln w="5080">
            <a:solidFill>
              <a:srgbClr val="C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563624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09:35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810512"/>
            <a:ext cx="1645920" cy="8412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9202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Track1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267712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90분</a:t>
            </a:r>
          </a:p>
        </p:txBody>
      </p:sp>
      <p:sp>
        <p:nvSpPr>
          <p:cNvPr id="16" name="Chevron 15"/>
          <p:cNvSpPr/>
          <p:nvPr/>
        </p:nvSpPr>
        <p:spPr>
          <a:xfrm>
            <a:off x="5907024" y="2029968"/>
            <a:ext cx="164592" cy="329184"/>
          </a:xfrm>
          <a:prstGeom prst="chevron">
            <a:avLst/>
          </a:prstGeom>
          <a:solidFill>
            <a:srgbClr val="C2CBD9"/>
          </a:solidFill>
          <a:ln w="5080">
            <a:solidFill>
              <a:srgbClr val="C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563624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11:05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8192" y="1810512"/>
            <a:ext cx="1645920" cy="841248"/>
          </a:xfrm>
          <a:prstGeom prst="rect">
            <a:avLst/>
          </a:prstGeom>
          <a:solidFill>
            <a:srgbClr val="98A2B3"/>
          </a:solidFill>
          <a:ln w="1016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9202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휴식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1" y="2267712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10분</a:t>
            </a:r>
          </a:p>
        </p:txBody>
      </p:sp>
      <p:sp>
        <p:nvSpPr>
          <p:cNvPr id="21" name="Chevron 20"/>
          <p:cNvSpPr/>
          <p:nvPr/>
        </p:nvSpPr>
        <p:spPr>
          <a:xfrm>
            <a:off x="7781544" y="2029968"/>
            <a:ext cx="164592" cy="329184"/>
          </a:xfrm>
          <a:prstGeom prst="chevron">
            <a:avLst/>
          </a:prstGeom>
          <a:solidFill>
            <a:srgbClr val="C2CBD9"/>
          </a:solidFill>
          <a:ln w="5080">
            <a:solidFill>
              <a:srgbClr val="C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1563624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11:15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2712" y="1810512"/>
            <a:ext cx="1645920" cy="841248"/>
          </a:xfrm>
          <a:prstGeom prst="rect">
            <a:avLst/>
          </a:prstGeom>
          <a:solidFill>
            <a:srgbClr val="1D4ED8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19202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Track1 Ontology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2267712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50분</a:t>
            </a:r>
          </a:p>
        </p:txBody>
      </p:sp>
      <p:sp>
        <p:nvSpPr>
          <p:cNvPr id="26" name="Chevron 25"/>
          <p:cNvSpPr/>
          <p:nvPr/>
        </p:nvSpPr>
        <p:spPr>
          <a:xfrm>
            <a:off x="9656064" y="2029968"/>
            <a:ext cx="164592" cy="329184"/>
          </a:xfrm>
          <a:prstGeom prst="chevron">
            <a:avLst/>
          </a:prstGeom>
          <a:solidFill>
            <a:srgbClr val="C2CBD9"/>
          </a:solidFill>
          <a:ln w="5080">
            <a:solidFill>
              <a:srgbClr val="C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1563624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12:05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57232" y="1810512"/>
            <a:ext cx="1645920" cy="841248"/>
          </a:xfrm>
          <a:prstGeom prst="rect">
            <a:avLst/>
          </a:prstGeom>
          <a:solidFill>
            <a:srgbClr val="98A2B3"/>
          </a:solidFill>
          <a:ln w="1016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1920240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점심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48672" y="2267712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35분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83696" y="2523744"/>
            <a:ext cx="4937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12:40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255264"/>
            <a:ext cx="1691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111827"/>
                </a:solidFill>
                <a:latin typeface="Arial"/>
              </a:rPr>
              <a:t>오후  |  12:40–17:00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300837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12:40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9152" y="3255264"/>
            <a:ext cx="1645920" cy="8412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0592" y="3364991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Track2 WorkIQ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0592" y="3712463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110분</a:t>
            </a:r>
          </a:p>
        </p:txBody>
      </p:sp>
      <p:sp>
        <p:nvSpPr>
          <p:cNvPr id="37" name="Chevron 36"/>
          <p:cNvSpPr/>
          <p:nvPr/>
        </p:nvSpPr>
        <p:spPr>
          <a:xfrm>
            <a:off x="4032504" y="3474720"/>
            <a:ext cx="164592" cy="329184"/>
          </a:xfrm>
          <a:prstGeom prst="chevron">
            <a:avLst/>
          </a:prstGeom>
          <a:solidFill>
            <a:srgbClr val="C2CBD9"/>
          </a:solidFill>
          <a:ln w="5080">
            <a:solidFill>
              <a:srgbClr val="C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33672" y="300837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14:30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33672" y="3255264"/>
            <a:ext cx="1645920" cy="841248"/>
          </a:xfrm>
          <a:prstGeom prst="rect">
            <a:avLst/>
          </a:prstGeom>
          <a:solidFill>
            <a:srgbClr val="98A2B3"/>
          </a:solidFill>
          <a:ln w="10160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3364991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휴식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3712463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10분</a:t>
            </a:r>
          </a:p>
        </p:txBody>
      </p:sp>
      <p:sp>
        <p:nvSpPr>
          <p:cNvPr id="42" name="Chevron 41"/>
          <p:cNvSpPr/>
          <p:nvPr/>
        </p:nvSpPr>
        <p:spPr>
          <a:xfrm>
            <a:off x="5907024" y="3474720"/>
            <a:ext cx="164592" cy="329184"/>
          </a:xfrm>
          <a:prstGeom prst="chevron">
            <a:avLst/>
          </a:prstGeom>
          <a:solidFill>
            <a:srgbClr val="C2CBD9"/>
          </a:solidFill>
          <a:ln w="5080">
            <a:solidFill>
              <a:srgbClr val="C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300837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14:40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3255264"/>
            <a:ext cx="1645920" cy="8412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9631" y="3364991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Track3 FoundryIQ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1" y="3712463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100분</a:t>
            </a:r>
          </a:p>
        </p:txBody>
      </p:sp>
      <p:sp>
        <p:nvSpPr>
          <p:cNvPr id="47" name="Chevron 46"/>
          <p:cNvSpPr/>
          <p:nvPr/>
        </p:nvSpPr>
        <p:spPr>
          <a:xfrm>
            <a:off x="7781544" y="3474720"/>
            <a:ext cx="164592" cy="329184"/>
          </a:xfrm>
          <a:prstGeom prst="chevron">
            <a:avLst/>
          </a:prstGeom>
          <a:solidFill>
            <a:srgbClr val="C2CBD9"/>
          </a:solidFill>
          <a:ln w="5080">
            <a:solidFill>
              <a:srgbClr val="C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82712" y="300837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16:20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82712" y="3255264"/>
            <a:ext cx="1645920" cy="841248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4152" y="3364991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통합 프로젝트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74152" y="3712463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30분</a:t>
            </a:r>
          </a:p>
        </p:txBody>
      </p:sp>
      <p:sp>
        <p:nvSpPr>
          <p:cNvPr id="52" name="Chevron 51"/>
          <p:cNvSpPr/>
          <p:nvPr/>
        </p:nvSpPr>
        <p:spPr>
          <a:xfrm>
            <a:off x="9656064" y="3474720"/>
            <a:ext cx="164592" cy="329184"/>
          </a:xfrm>
          <a:prstGeom prst="chevron">
            <a:avLst/>
          </a:prstGeom>
          <a:solidFill>
            <a:srgbClr val="C2CBD9"/>
          </a:solidFill>
          <a:ln w="5080">
            <a:solidFill>
              <a:srgbClr val="C2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57232" y="3008376"/>
            <a:ext cx="7315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16:50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57232" y="3255264"/>
            <a:ext cx="1645920" cy="841248"/>
          </a:xfrm>
          <a:prstGeom prst="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48672" y="3364991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리뷰·클로징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8672" y="3712463"/>
            <a:ext cx="1463040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FFFFFF"/>
                </a:solidFill>
                <a:latin typeface="Arial"/>
              </a:rPr>
              <a:t>10분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83696" y="3968496"/>
            <a:ext cx="49377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1">
                <a:solidFill>
                  <a:srgbClr val="64748B"/>
                </a:solidFill>
                <a:latin typeface="Arial"/>
              </a:rPr>
              <a:t>17:00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3232" y="4681728"/>
            <a:ext cx="3493008" cy="105156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4400" y="4892040"/>
            <a:ext cx="420624" cy="42062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4892040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81328" y="4828032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93" b="1">
                <a:solidFill>
                  <a:srgbClr val="1D4ED8"/>
                </a:solidFill>
                <a:latin typeface="Arial"/>
              </a:rPr>
              <a:t>Track1 → Track2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81328" y="5175504"/>
            <a:ext cx="23957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75" b="1">
                <a:solidFill>
                  <a:srgbClr val="1F2937"/>
                </a:solidFill>
                <a:latin typeface="Arial"/>
              </a:rPr>
              <a:t>Ontology · 매핑 · 키워드 · 검증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52544" y="4681728"/>
            <a:ext cx="3493008" cy="105156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553712" y="4892040"/>
            <a:ext cx="420624" cy="42062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53712" y="4892040"/>
            <a:ext cx="42062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20640" y="4828032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93" b="1">
                <a:solidFill>
                  <a:srgbClr val="1D4ED8"/>
                </a:solidFill>
                <a:latin typeface="Arial"/>
              </a:rPr>
              <a:t>Track2 → Track3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0640" y="5175504"/>
            <a:ext cx="23957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75" b="1">
                <a:solidFill>
                  <a:srgbClr val="1F2937"/>
                </a:solidFill>
                <a:latin typeface="Arial"/>
              </a:rPr>
              <a:t>인덱스 · 품질 · 링크 5 · 질의 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91856" y="4681728"/>
            <a:ext cx="3493008" cy="1051560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47888" y="4846320"/>
            <a:ext cx="12344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93" b="1">
                <a:solidFill>
                  <a:srgbClr val="2563EB"/>
                </a:solidFill>
                <a:latin typeface="Arial"/>
              </a:rPr>
              <a:t>최종 산출물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47888" y="5175504"/>
            <a:ext cx="287121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75" b="1">
                <a:solidFill>
                  <a:srgbClr val="1F2937"/>
                </a:solidFill>
                <a:latin typeface="Arial"/>
              </a:rPr>
              <a:t>수치 + M365 근거 + trace + 조치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846320" y="5925312"/>
            <a:ext cx="2487168" cy="310896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92040" y="5934456"/>
            <a:ext cx="239572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FFFFFF"/>
                </a:solidFill>
                <a:latin typeface="Arial"/>
              </a:rPr>
              <a:t>TOTAL · 480 MINUTES</a:t>
            </a:r>
          </a:p>
        </p:txBody>
      </p:sp>
      <p:sp>
        <p:nvSpPr>
          <p:cNvPr id="73" name="Oval 72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2563EB"/>
                </a:solidFill>
                <a:latin typeface="Arial"/>
              </a:rPr>
              <a:t>OPERATIONS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111827"/>
                </a:solidFill>
                <a:latin typeface="Arial"/>
              </a:rPr>
              <a:t>재현 가능한 실행·평가·자동화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64748B"/>
                </a:solidFill>
                <a:latin typeface="Arial"/>
              </a:rPr>
              <a:t>저장소의 데이터, 스크립트, 노트북, 스케줄러가 같은 계약으로 회귀 가능한 파이프라인을 구성합니다.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19072"/>
            <a:ext cx="3063240" cy="11155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38912" cy="438912"/>
          </a:xfrm>
          <a:prstGeom prst="ellipse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74519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111827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240279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평일 08:30 KST
cron · Actions · Logic 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719072"/>
            <a:ext cx="3063240" cy="111556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61688" y="1920240"/>
            <a:ext cx="438912" cy="43891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920240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1874519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2563EB"/>
                </a:solidFill>
                <a:latin typeface="Arial"/>
              </a:rPr>
              <a:t>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2240279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Track1 CSV + Track2 manifest
Q1–Q3 scenario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1719072"/>
            <a:ext cx="3063240" cy="111556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00416" y="1920240"/>
            <a:ext cx="438912" cy="43891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1920240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874519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2563EB"/>
                </a:solidFill>
                <a:latin typeface="Arial"/>
              </a:rPr>
              <a:t>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240279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simulation 또는 live
Tool A/B + fallback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3255264"/>
            <a:ext cx="3063240" cy="111556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00416" y="3456432"/>
            <a:ext cx="438912" cy="43891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6" y="345643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410712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2563EB"/>
                </a:solidFill>
                <a:latin typeface="Arial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776472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strict evaluator
PASS / PARTIAL / BLOCKED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255264"/>
            <a:ext cx="3063240" cy="1115568"/>
          </a:xfrm>
          <a:prstGeom prst="roundRect">
            <a:avLst/>
          </a:prstGeom>
          <a:solidFill>
            <a:srgbClr val="EEF4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61688" y="3456432"/>
            <a:ext cx="438912" cy="438912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345643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904" y="3410712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2563EB"/>
                </a:solidFill>
                <a:latin typeface="Arial"/>
              </a:rPr>
              <a:t>Brief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776472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rules-only 또는 Responses API
리더십 브리핑 생성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3255264"/>
            <a:ext cx="3063240" cy="111556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" y="3456432"/>
            <a:ext cx="438912" cy="438912"/>
          </a:xfrm>
          <a:prstGeom prst="ellipse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45643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16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3410712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111827"/>
                </a:solidFill>
                <a:latin typeface="Arial"/>
              </a:rPr>
              <a:t>Notify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8176" y="3776472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38" b="0">
                <a:solidFill>
                  <a:srgbClr val="1F2937"/>
                </a:solidFill>
                <a:latin typeface="Arial"/>
              </a:rPr>
              <a:t>Teams · Outlook 전달
평가 실패 시 발송 중단</a:t>
            </a:r>
          </a:p>
        </p:txBody>
      </p:sp>
      <p:sp>
        <p:nvSpPr>
          <p:cNvPr id="36" name="Chevron 35"/>
          <p:cNvSpPr/>
          <p:nvPr/>
        </p:nvSpPr>
        <p:spPr>
          <a:xfrm>
            <a:off x="3749039" y="2075688"/>
            <a:ext cx="274320" cy="384048"/>
          </a:xfrm>
          <a:prstGeom prst="chevron">
            <a:avLst/>
          </a:prstGeom>
          <a:solidFill>
            <a:srgbClr val="AAB5C8"/>
          </a:solidFill>
          <a:ln w="5080">
            <a:solidFill>
              <a:srgbClr val="AA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evron 36"/>
          <p:cNvSpPr/>
          <p:nvPr/>
        </p:nvSpPr>
        <p:spPr>
          <a:xfrm>
            <a:off x="7287768" y="2075688"/>
            <a:ext cx="274320" cy="384048"/>
          </a:xfrm>
          <a:prstGeom prst="chevron">
            <a:avLst/>
          </a:prstGeom>
          <a:solidFill>
            <a:srgbClr val="AAB5C8"/>
          </a:solidFill>
          <a:ln w="5080">
            <a:solidFill>
              <a:srgbClr val="AA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9052560" y="2852928"/>
            <a:ext cx="384048" cy="310896"/>
          </a:xfrm>
          <a:prstGeom prst="downArrow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evron 38"/>
          <p:cNvSpPr/>
          <p:nvPr/>
        </p:nvSpPr>
        <p:spPr>
          <a:xfrm rot="10800000">
            <a:off x="7287768" y="3611880"/>
            <a:ext cx="274320" cy="384048"/>
          </a:xfrm>
          <a:prstGeom prst="chevron">
            <a:avLst/>
          </a:prstGeom>
          <a:solidFill>
            <a:srgbClr val="AAB5C8"/>
          </a:solidFill>
          <a:ln w="5080">
            <a:solidFill>
              <a:srgbClr val="AA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evron 39"/>
          <p:cNvSpPr/>
          <p:nvPr/>
        </p:nvSpPr>
        <p:spPr>
          <a:xfrm rot="10800000">
            <a:off x="3749039" y="3611880"/>
            <a:ext cx="274320" cy="384048"/>
          </a:xfrm>
          <a:prstGeom prst="chevron">
            <a:avLst/>
          </a:prstGeom>
          <a:solidFill>
            <a:srgbClr val="AAB5C8"/>
          </a:solidFill>
          <a:ln w="5080">
            <a:solidFill>
              <a:srgbClr val="AA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3232" y="4736592"/>
            <a:ext cx="10771632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87552" y="4901184"/>
            <a:ext cx="173736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" y="4910328"/>
            <a:ext cx="164591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Repository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" y="5285232"/>
            <a:ext cx="257860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1F2937"/>
                </a:solidFill>
                <a:latin typeface="Arial"/>
              </a:rPr>
              <a:t>data · notebooks · validators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0" y="4901184"/>
            <a:ext cx="173736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4910328"/>
            <a:ext cx="164591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Release &amp; 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285232"/>
            <a:ext cx="257860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1F2937"/>
                </a:solidFill>
                <a:latin typeface="Arial"/>
              </a:rPr>
              <a:t>pipeline · prompt · model · toolset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42048" y="4901184"/>
            <a:ext cx="1737360" cy="310896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7768" y="4910328"/>
            <a:ext cx="164591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048" y="5285232"/>
            <a:ext cx="257860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1F2937"/>
                </a:solidFill>
                <a:latin typeface="Arial"/>
              </a:rPr>
              <a:t>isolated tenant · ACL · secrets 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74519" y="5833872"/>
            <a:ext cx="8458200" cy="384048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03120" y="5888736"/>
            <a:ext cx="8001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6" b="1">
                <a:solidFill>
                  <a:srgbClr val="FFFFFF"/>
                </a:solidFill>
                <a:latin typeface="Arial"/>
              </a:rPr>
              <a:t>DELIVERY GATE  |  strict FAIL → 자동 발송 중단  ·  PARTIAL → 경고 + 수동 검토</a:t>
            </a:r>
          </a:p>
        </p:txBody>
      </p:sp>
      <p:sp>
        <p:nvSpPr>
          <p:cNvPr id="53" name="Oval 52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AFC4FF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97" b="1">
                <a:solidFill>
                  <a:srgbClr val="AFC4FF"/>
                </a:solidFill>
                <a:latin typeface="Arial"/>
              </a:rPr>
              <a:t>END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58" b="1">
                <a:solidFill>
                  <a:srgbClr val="FFFFFF"/>
                </a:solidFill>
                <a:latin typeface="Arial"/>
              </a:rPr>
              <a:t>참가자가 마지막에 증명해야 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0">
                <a:solidFill>
                  <a:srgbClr val="CBD5E1"/>
                </a:solidFill>
                <a:latin typeface="Arial"/>
              </a:rPr>
              <a:t>아키텍처를 설명하는 데서 끝나지 않고, 실행 결과와 근거로 각 IQ의 책임을 증명합니다.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154680" cy="2331720"/>
          </a:xfrm>
          <a:prstGeom prst="roundRect">
            <a:avLst/>
          </a:prstGeom>
          <a:solidFill>
            <a:srgbClr val="111F3D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057400"/>
            <a:ext cx="475488" cy="47548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47548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0824"/>
            <a:ext cx="1828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24" b="1">
                <a:solidFill>
                  <a:srgbClr val="FFFFFF"/>
                </a:solidFill>
                <a:latin typeface="Arial"/>
              </a:rPr>
              <a:t>FabricIQ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60904"/>
            <a:ext cx="2697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63" b="1">
                <a:solidFill>
                  <a:srgbClr val="D6DFF3"/>
                </a:solidFill>
                <a:latin typeface="Arial"/>
              </a:rPr>
              <a:t>이 수치는 어떤 엔터티·관계·속성에서 계산됐는가?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3447288"/>
            <a:ext cx="2697480" cy="47548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53872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기준값 · semantic path · validation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31136" y="4160520"/>
            <a:ext cx="0" cy="45720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33087" y="1828800"/>
            <a:ext cx="3154680" cy="2331720"/>
          </a:xfrm>
          <a:prstGeom prst="roundRect">
            <a:avLst/>
          </a:prstGeom>
          <a:solidFill>
            <a:srgbClr val="111F3D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61688" y="2057400"/>
            <a:ext cx="475488" cy="47548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2057400"/>
            <a:ext cx="47548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020824"/>
            <a:ext cx="1828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24" b="1">
                <a:solidFill>
                  <a:srgbClr val="FFFFFF"/>
                </a:solidFill>
                <a:latin typeface="Arial"/>
              </a:rPr>
              <a:t>WorkIQ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660904"/>
            <a:ext cx="2697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63" b="1">
                <a:solidFill>
                  <a:srgbClr val="D6DFF3"/>
                </a:solidFill>
                <a:latin typeface="Arial"/>
              </a:rPr>
              <a:t>이 업무 근거는 누가 볼 수 있고, 원문은 어디에 있는가?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3447288"/>
            <a:ext cx="2697480" cy="47548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53872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ACL · source coverage · original link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05855" y="4160520"/>
            <a:ext cx="0" cy="45720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07808" y="1828800"/>
            <a:ext cx="3154680" cy="2331720"/>
          </a:xfrm>
          <a:prstGeom prst="roundRect">
            <a:avLst/>
          </a:prstGeom>
          <a:solidFill>
            <a:srgbClr val="111F3D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36408" y="2057400"/>
            <a:ext cx="475488" cy="475488"/>
          </a:xfrm>
          <a:prstGeom prst="ellipse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6408" y="2057400"/>
            <a:ext cx="475488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020824"/>
            <a:ext cx="18288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24" b="1">
                <a:solidFill>
                  <a:srgbClr val="FFFFFF"/>
                </a:solidFill>
                <a:latin typeface="Arial"/>
              </a:rPr>
              <a:t>FoundryIQ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660904"/>
            <a:ext cx="26974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63" b="1">
                <a:solidFill>
                  <a:srgbClr val="D6DFF3"/>
                </a:solidFill>
                <a:latin typeface="Arial"/>
              </a:rPr>
              <a:t>두 소스를 어떻게 결합했고, 실패 시 무엇을 제한했는가?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36408" y="3447288"/>
            <a:ext cx="2697480" cy="47548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353872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Arial"/>
              </a:rPr>
              <a:t>sourceTrace · warnings · strict report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0576" y="4160520"/>
            <a:ext cx="0" cy="45720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527048" y="4617720"/>
            <a:ext cx="91440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10512" y="4809744"/>
            <a:ext cx="1417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2" b="1">
                <a:solidFill>
                  <a:srgbClr val="1D4ED8"/>
                </a:solidFill>
                <a:latin typeface="Arial"/>
              </a:rPr>
              <a:t>최종 브리핑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4791456"/>
            <a:ext cx="7040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11" b="1">
                <a:solidFill>
                  <a:srgbClr val="111827"/>
                </a:solidFill>
                <a:latin typeface="Arial"/>
              </a:rPr>
              <a:t>정형 수치 + 권한 적용 업무 근거 + 출처 링크 + 경고 + 우선 조치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715000"/>
            <a:ext cx="101041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D5DEEF"/>
                </a:solidFill>
                <a:latin typeface="Arial"/>
              </a:rPr>
              <a:t>3-IQ는 신뢰 가능한 AI 응답을 만드는 책임 분리 아키텍처입니다.</a:t>
            </a:r>
          </a:p>
        </p:txBody>
      </p:sp>
      <p:sp>
        <p:nvSpPr>
          <p:cNvPr id="34" name="Oval 33"/>
          <p:cNvSpPr/>
          <p:nvPr/>
        </p:nvSpPr>
        <p:spPr>
          <a:xfrm>
            <a:off x="11137392" y="6547104"/>
            <a:ext cx="91440" cy="91440"/>
          </a:xfrm>
          <a:prstGeom prst="ellipse">
            <a:avLst/>
          </a:prstGeom>
          <a:solidFill>
            <a:srgbClr val="2563EB"/>
          </a:solidFill>
          <a:ln w="2032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11712" y="6446520"/>
            <a:ext cx="34747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94A3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3-IQ Workshop Full Architecture</dc:title>
  <dc:subject>FabricIQ, WorkIQ, FoundryIQ integrated workshop architecture</dc:subject>
  <dc:creator>Data Platform Workshop</dc:creator>
  <cp:keywords>FabricIQ, WorkIQ, FoundryIQ, Ontology, M365, Azure AI Foundry</cp:keywords>
  <dc:description>Generated from repository-authoritative workshop documents.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