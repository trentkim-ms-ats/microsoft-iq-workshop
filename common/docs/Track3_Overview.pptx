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8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20624"/>
            <a:ext cx="49377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>
                <a:solidFill>
                  <a:srgbClr val="6F4ACB"/>
                </a:solidFill>
                <a:latin typeface="Apple SD Gothic Neo"/>
              </a:rPr>
              <a:t>TRACK 3 · WEBIQ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6072" y="941832"/>
            <a:ext cx="10698480" cy="6583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200" b="1">
                <a:solidFill>
                  <a:srgbClr val="FFFFFF"/>
                </a:solidFill>
                <a:latin typeface="Apple SD Gothic Neo"/>
              </a:rPr>
              <a:t>공개 웹 최신 근거를 안전하게 추가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3504" y="1755648"/>
            <a:ext cx="10698480" cy="6400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CAD3E3"/>
                </a:solidFill>
                <a:latin typeface="Apple SD Gothic Neo"/>
              </a:rPr>
              <a:t>내부 질문에서 공개 확인 범위만 분리하고, Web Search 또는 fixture로 URL citation을 수집해 출처 품질과 한계를 기록합니다.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03504" y="2971800"/>
            <a:ext cx="2331720" cy="932688"/>
          </a:xfrm>
          <a:prstGeom prst="roundRect">
            <a:avLst/>
          </a:prstGeom>
          <a:solidFill>
            <a:srgbClr val="192743"/>
          </a:solidFill>
          <a:ln w="12700">
            <a:solidFill>
              <a:srgbClr val="31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" y="3145536"/>
            <a:ext cx="2002536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pple SD Gothic Neo"/>
              </a:rPr>
              <a:t>45분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8096" y="3520440"/>
            <a:ext cx="2002536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AEBBD0"/>
                </a:solidFill>
                <a:latin typeface="Apple SD Gothic Neo"/>
              </a:rPr>
              <a:t>10 + 15 + 10 + 10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099816" y="2971800"/>
            <a:ext cx="2331720" cy="932688"/>
          </a:xfrm>
          <a:prstGeom prst="roundRect">
            <a:avLst/>
          </a:prstGeom>
          <a:solidFill>
            <a:srgbClr val="192743"/>
          </a:solidFill>
          <a:ln w="12700">
            <a:solidFill>
              <a:srgbClr val="31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64408" y="3145536"/>
            <a:ext cx="2002536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pple SD Gothic Neo"/>
              </a:rPr>
              <a:t>3 scenarios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64408" y="3520440"/>
            <a:ext cx="2002536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AEBBD0"/>
                </a:solidFill>
                <a:latin typeface="Apple SD Gothic Neo"/>
              </a:rPr>
              <a:t>Q1–Q3 외부 확인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596128" y="2971800"/>
            <a:ext cx="2331720" cy="932688"/>
          </a:xfrm>
          <a:prstGeom prst="roundRect">
            <a:avLst/>
          </a:prstGeom>
          <a:solidFill>
            <a:srgbClr val="192743"/>
          </a:solidFill>
          <a:ln w="12700">
            <a:solidFill>
              <a:srgbClr val="31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760720" y="3145536"/>
            <a:ext cx="2002536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pple SD Gothic Neo"/>
              </a:rPr>
              <a:t>6 citations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60720" y="3520440"/>
            <a:ext cx="2002536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AEBBD0"/>
                </a:solidFill>
                <a:latin typeface="Apple SD Gothic Neo"/>
              </a:rPr>
              <a:t>질문별 최소 2개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92440" y="2971800"/>
            <a:ext cx="2331720" cy="932688"/>
          </a:xfrm>
          <a:prstGeom prst="roundRect">
            <a:avLst/>
          </a:prstGeom>
          <a:solidFill>
            <a:srgbClr val="192743"/>
          </a:solidFill>
          <a:ln w="12700">
            <a:solidFill>
              <a:srgbClr val="31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57031" y="3145536"/>
            <a:ext cx="2002536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pple SD Gothic Neo"/>
              </a:rPr>
              <a:t>1 handoff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57031" y="3520440"/>
            <a:ext cx="2002536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AEBBD0"/>
                </a:solidFill>
                <a:latin typeface="Apple SD Gothic Neo"/>
              </a:rPr>
              <a:t>Track4 입력 계약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03504" y="4800600"/>
            <a:ext cx="10927080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5001768"/>
            <a:ext cx="13258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1">
                <a:solidFill>
                  <a:srgbClr val="6F4ACB"/>
                </a:solidFill>
                <a:latin typeface="Apple SD Gothic Neo"/>
              </a:rPr>
              <a:t>TRACK OUTCOME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03120" y="4919472"/>
            <a:ext cx="9098280" cy="3383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72033"/>
                </a:solidFill>
                <a:latin typeface="Apple SD Gothic Neo"/>
              </a:rPr>
              <a:t>현재성·범위·한계가 명시된 WEBIQ_HANDOFF_PACKAGE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3504" y="6473952"/>
            <a:ext cx="292608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71809B"/>
                </a:solidFill>
                <a:latin typeface="Apple SD Gothic Neo"/>
              </a:rPr>
              <a:t>Microsoft IQ Workshop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09960" y="644652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71809B"/>
                </a:solidFill>
                <a:latin typeface="Apple SD Gothic Neo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0352" y="256032"/>
            <a:ext cx="4114800" cy="2377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>
                <a:solidFill>
                  <a:srgbClr val="6F4ACB"/>
                </a:solidFill>
                <a:latin typeface="Apple SD Gothic Neo"/>
              </a:rPr>
              <a:t>ROLE &amp; BOUNDARY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173968" y="246888"/>
            <a:ext cx="438912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1">
                <a:solidFill>
                  <a:srgbClr val="5A6475"/>
                </a:solidFill>
                <a:latin typeface="Apple SD Gothic Neo"/>
              </a:rP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76072"/>
            <a:ext cx="1106424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172033"/>
                </a:solidFill>
                <a:latin typeface="Apple SD Gothic Neo"/>
              </a:rPr>
              <a:t>WebIQ가 책임지는 것과 하지 않는 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115568"/>
            <a:ext cx="10972800" cy="4572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5A6475"/>
                </a:solidFill>
                <a:latin typeface="Apple SD Gothic Neo"/>
              </a:rPr>
              <a:t>공개 웹은 내부 원인을 대신 설명하지 않으며 관찰된 외부 사실과 citation만 제공합니다.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30352" y="1783080"/>
            <a:ext cx="3587496" cy="212597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76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13232" y="1947672"/>
            <a:ext cx="621792" cy="256032"/>
          </a:xfrm>
          <a:prstGeom prst="roundRect">
            <a:avLst/>
          </a:prstGeom>
          <a:solidFill>
            <a:srgbClr val="276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956816"/>
            <a:ext cx="621792" cy="21031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700" b="1">
                <a:solidFill>
                  <a:srgbClr val="FFFFFF"/>
                </a:solidFill>
                <a:latin typeface="Apple SD Gothic Neo"/>
              </a:rPr>
              <a:t>INPUT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2313432"/>
            <a:ext cx="3221736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72033"/>
                </a:solidFill>
                <a:latin typeface="Apple SD Gothic Neo"/>
              </a:rPr>
              <a:t>공개 확인 질문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2752344"/>
            <a:ext cx="3221736" cy="10287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A6475"/>
                </a:solidFill>
                <a:latin typeface="Apple SD Gothic Neo"/>
              </a:rPr>
              <a:t>내부 식별자·수치 제거
외부에서 확인 가능한 범위만 분리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00728" y="1783080"/>
            <a:ext cx="3587496" cy="212597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6F4A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483608" y="1947672"/>
            <a:ext cx="621792" cy="256032"/>
          </a:xfrm>
          <a:prstGeom prst="roundRect">
            <a:avLst/>
          </a:prstGeom>
          <a:solidFill>
            <a:srgbClr val="6F4A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83608" y="1956816"/>
            <a:ext cx="621792" cy="21031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700" b="1">
                <a:solidFill>
                  <a:srgbClr val="FFFFFF"/>
                </a:solidFill>
                <a:latin typeface="Apple SD Gothic Neo"/>
              </a:rPr>
              <a:t>SEARCH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3608" y="2313432"/>
            <a:ext cx="3221736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72033"/>
                </a:solidFill>
                <a:latin typeface="Apple SD Gothic Neo"/>
              </a:rPr>
              <a:t>WebIQ 근거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3608" y="2752344"/>
            <a:ext cx="3221736" cy="10287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A6475"/>
                </a:solidFill>
                <a:latin typeface="Apple SD Gothic Neo"/>
              </a:rPr>
              <a:t>승인된 Web Search 또는 fixture
URL · 관찰 시각 · 적용 범위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71104" y="1783080"/>
            <a:ext cx="3587496" cy="212597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65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253983" y="1947672"/>
            <a:ext cx="621792" cy="256032"/>
          </a:xfrm>
          <a:prstGeom prst="roundRect">
            <a:avLst/>
          </a:prstGeom>
          <a:solidFill>
            <a:srgbClr val="D965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53983" y="1956816"/>
            <a:ext cx="621792" cy="21031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700" b="1">
                <a:solidFill>
                  <a:srgbClr val="FFFFFF"/>
                </a:solidFill>
                <a:latin typeface="Apple SD Gothic Neo"/>
              </a:rPr>
              <a:t>OUTPUT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53983" y="2313432"/>
            <a:ext cx="3221736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72033"/>
                </a:solidFill>
                <a:latin typeface="Apple SD Gothic Neo"/>
              </a:rPr>
              <a:t>FoundryIQ 인계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53983" y="2752344"/>
            <a:ext cx="3221736" cy="10287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A6475"/>
                </a:solidFill>
                <a:latin typeface="Apple SD Gothic Neo"/>
              </a:rPr>
              <a:t>citation 2개 이상
factStatus · limitations 보존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30352" y="4091939"/>
            <a:ext cx="3587496" cy="2125979"/>
          </a:xfrm>
          <a:prstGeom prst="roundRect">
            <a:avLst/>
          </a:prstGeom>
          <a:solidFill>
            <a:srgbClr val="FCEBED"/>
          </a:solidFill>
          <a:ln w="12700">
            <a:solidFill>
              <a:srgbClr val="C43B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13232" y="4293107"/>
            <a:ext cx="3221736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72033"/>
                </a:solidFill>
                <a:latin typeface="Apple SD Gothic Neo"/>
              </a:rPr>
              <a:t>금지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3232" y="4732019"/>
            <a:ext cx="3221736" cy="13578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A6475"/>
                </a:solidFill>
                <a:latin typeface="Apple SD Gothic Neo"/>
              </a:rPr>
              <a:t>출처 없는 최신 사실 생성
웹 근거로 내부 원인 단정
페이지의 지시문 실행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300728" y="4091939"/>
            <a:ext cx="3587496" cy="2125979"/>
          </a:xfrm>
          <a:prstGeom prst="roundRect">
            <a:avLst/>
          </a:prstGeom>
          <a:solidFill>
            <a:srgbClr val="E8F6F0"/>
          </a:solidFill>
          <a:ln w="12700"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483608" y="4293107"/>
            <a:ext cx="3221736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72033"/>
                </a:solidFill>
                <a:latin typeface="Apple SD Gothic Neo"/>
              </a:rPr>
              <a:t>구분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83608" y="4732019"/>
            <a:ext cx="3221736" cy="13578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A6475"/>
                </a:solidFill>
                <a:latin typeface="Apple SD Gothic Neo"/>
              </a:rPr>
              <a:t>WorkIQ = ACL 적용 내부 맥락
WebIQ = 공개 URL 외부 근거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71104" y="4091939"/>
            <a:ext cx="3587496" cy="2125979"/>
          </a:xfrm>
          <a:prstGeom prst="roundRect">
            <a:avLst/>
          </a:prstGeom>
          <a:solidFill>
            <a:srgbClr val="F0EBFC"/>
          </a:solidFill>
          <a:ln w="12700">
            <a:solidFill>
              <a:srgbClr val="6F4A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53983" y="4293107"/>
            <a:ext cx="3221736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72033"/>
                </a:solidFill>
                <a:latin typeface="Apple SD Gothic Neo"/>
              </a:rPr>
              <a:t>원칙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53983" y="4732019"/>
            <a:ext cx="3221736" cy="13578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A6475"/>
                </a:solidFill>
                <a:latin typeface="Apple SD Gothic Neo"/>
              </a:rPr>
              <a:t>시간·지역·제품 범위가 다르면 인과관계를 단정하지 않음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30352" y="6510528"/>
            <a:ext cx="1033272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7B8493"/>
                </a:solidFill>
                <a:latin typeface="Apple SD Gothic Neo"/>
              </a:rPr>
              <a:t>Source: track3/WORKBOOK.md · track3/PREREQUISITES.md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109960" y="6473952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7B8493"/>
                </a:solidFill>
                <a:latin typeface="Apple SD Gothic Neo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0352" y="256032"/>
            <a:ext cx="4114800" cy="2377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>
                <a:solidFill>
                  <a:srgbClr val="6F4ACB"/>
                </a:solidFill>
                <a:latin typeface="Apple SD Gothic Neo"/>
              </a:rPr>
              <a:t>MISSION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173968" y="246888"/>
            <a:ext cx="438912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1">
                <a:solidFill>
                  <a:srgbClr val="5A6475"/>
                </a:solidFill>
                <a:latin typeface="Apple SD Gothic Neo"/>
              </a:rPr>
              <a:t>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76072"/>
            <a:ext cx="1106424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172033"/>
                </a:solidFill>
                <a:latin typeface="Apple SD Gothic Neo"/>
              </a:rPr>
              <a:t>4개 미션 · 45분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115568"/>
            <a:ext cx="10972800" cy="4572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5A6475"/>
                </a:solidFill>
                <a:latin typeface="Apple SD Gothic Neo"/>
              </a:rPr>
              <a:t>안전한 검색어에서 시작해 citation 품질 평가와 FoundryIQ 인계까지 완료합니다.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30352" y="2011680"/>
            <a:ext cx="2672334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6F4A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94944" y="2176272"/>
            <a:ext cx="2343150" cy="384048"/>
          </a:xfrm>
          <a:prstGeom prst="roundRect">
            <a:avLst/>
          </a:prstGeom>
          <a:solidFill>
            <a:srgbClr val="6F4ACB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9536" y="2212848"/>
            <a:ext cx="2013966" cy="310896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Apple SD Gothic Neo"/>
              </a:rPr>
              <a:t>10분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" y="2761488"/>
            <a:ext cx="234315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72033"/>
                </a:solidFill>
                <a:latin typeface="Apple SD Gothic Neo"/>
              </a:rPr>
              <a:t>M1 · Query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4944" y="3310128"/>
            <a:ext cx="2343150" cy="16002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A6475"/>
                </a:solidFill>
                <a:latin typeface="Apple SD Gothic Neo"/>
              </a:rPr>
              <a:t>공개 확인 범위 분리
민감 정보 제거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3129534" y="3584448"/>
            <a:ext cx="283464" cy="228600"/>
          </a:xfrm>
          <a:prstGeom prst="rightArrow">
            <a:avLst/>
          </a:prstGeom>
          <a:solidFill>
            <a:srgbClr val="6F4A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348990" y="2011680"/>
            <a:ext cx="2672334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6F4A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513582" y="2176272"/>
            <a:ext cx="2343150" cy="384048"/>
          </a:xfrm>
          <a:prstGeom prst="roundRect">
            <a:avLst/>
          </a:prstGeom>
          <a:solidFill>
            <a:srgbClr val="6F4ACB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78174" y="2212848"/>
            <a:ext cx="2013966" cy="310896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Apple SD Gothic Neo"/>
              </a:rPr>
              <a:t>15분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13582" y="2761488"/>
            <a:ext cx="234315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72033"/>
                </a:solidFill>
                <a:latin typeface="Apple SD Gothic Neo"/>
              </a:rPr>
              <a:t>M2 · Search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13582" y="3310128"/>
            <a:ext cx="2343150" cy="16002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A6475"/>
                </a:solidFill>
                <a:latin typeface="Apple SD Gothic Neo"/>
              </a:rPr>
              <a:t>Web Search 또는 fixture
URL citation 수집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5948172" y="3584448"/>
            <a:ext cx="283464" cy="228600"/>
          </a:xfrm>
          <a:prstGeom prst="rightArrow">
            <a:avLst/>
          </a:prstGeom>
          <a:solidFill>
            <a:srgbClr val="6F4A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167628" y="2011680"/>
            <a:ext cx="2672334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6F4A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332220" y="2176272"/>
            <a:ext cx="2343150" cy="384048"/>
          </a:xfrm>
          <a:prstGeom prst="roundRect">
            <a:avLst/>
          </a:prstGeom>
          <a:solidFill>
            <a:srgbClr val="6F4ACB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6812" y="2212848"/>
            <a:ext cx="2013966" cy="310896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Apple SD Gothic Neo"/>
              </a:rPr>
              <a:t>10분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32220" y="2761488"/>
            <a:ext cx="234315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72033"/>
                </a:solidFill>
                <a:latin typeface="Apple SD Gothic Neo"/>
              </a:rPr>
              <a:t>M3 · Quality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32220" y="3310128"/>
            <a:ext cx="2343150" cy="16002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A6475"/>
                </a:solidFill>
                <a:latin typeface="Apple SD Gothic Neo"/>
              </a:rPr>
              <a:t>출처 권위·현재성
범위·한계 평가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8766810" y="3584448"/>
            <a:ext cx="283464" cy="228600"/>
          </a:xfrm>
          <a:prstGeom prst="rightArrow">
            <a:avLst/>
          </a:prstGeom>
          <a:solidFill>
            <a:srgbClr val="6F4A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986266" y="2011680"/>
            <a:ext cx="2672334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6F4A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9150858" y="2176272"/>
            <a:ext cx="2343150" cy="384048"/>
          </a:xfrm>
          <a:prstGeom prst="roundRect">
            <a:avLst/>
          </a:prstGeom>
          <a:solidFill>
            <a:srgbClr val="6F4ACB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315450" y="2212848"/>
            <a:ext cx="2013966" cy="310896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Apple SD Gothic Neo"/>
              </a:rPr>
              <a:t>10분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50858" y="2761488"/>
            <a:ext cx="234315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72033"/>
                </a:solidFill>
                <a:latin typeface="Apple SD Gothic Neo"/>
              </a:rPr>
              <a:t>M4 · Handoff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0858" y="3310128"/>
            <a:ext cx="2343150" cy="16002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A6475"/>
                </a:solidFill>
                <a:latin typeface="Apple SD Gothic Neo"/>
              </a:rPr>
              <a:t>WEBIQ_HANDOFF_PACKAGE
Track4 입력 검수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22960" y="5532120"/>
            <a:ext cx="10561320" cy="566928"/>
          </a:xfrm>
          <a:prstGeom prst="roundRect">
            <a:avLst/>
          </a:prstGeom>
          <a:solidFill>
            <a:srgbClr val="10182A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87552" y="5568696"/>
            <a:ext cx="10232136" cy="493776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Apple SD Gothic Neo"/>
              </a:rPr>
              <a:t>완료 기준 · Q1–Q3 각각 citation ≥2 · 필수 메타데이터 · 확인되지 않은 내용 추정 금지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0352" y="6510528"/>
            <a:ext cx="1033272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7B8493"/>
                </a:solidFill>
                <a:latin typeface="Apple SD Gothic Neo"/>
              </a:rPr>
              <a:t>Source: track3/WORKBOOK.md §미션 1–4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109960" y="6473952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7B8493"/>
                </a:solidFill>
                <a:latin typeface="Apple SD Gothic Neo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0352" y="256032"/>
            <a:ext cx="4114800" cy="2377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>
                <a:solidFill>
                  <a:srgbClr val="6F4ACB"/>
                </a:solidFill>
                <a:latin typeface="Apple SD Gothic Neo"/>
              </a:rPr>
              <a:t>SCENARIO 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173968" y="246888"/>
            <a:ext cx="438912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1">
                <a:solidFill>
                  <a:srgbClr val="5A6475"/>
                </a:solidFill>
                <a:latin typeface="Apple SD Gothic Neo"/>
              </a:rPr>
              <a:t>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76072"/>
            <a:ext cx="1106424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172033"/>
                </a:solidFill>
                <a:latin typeface="Apple SD Gothic Neo"/>
              </a:rPr>
              <a:t>Q1–Q3 내부 분석을 보완하는 외부 확인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115568"/>
            <a:ext cx="10972800" cy="4572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5A6475"/>
                </a:solidFill>
                <a:latin typeface="Apple SD Gothic Neo"/>
              </a:rPr>
              <a:t>기존 비즈니스 질문과 데이터는 유지하고 외부 맥락을 확인하는 질문만 추가합니다.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30352" y="1783080"/>
            <a:ext cx="3587496" cy="4434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6F4A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13232" y="1947672"/>
            <a:ext cx="621792" cy="256032"/>
          </a:xfrm>
          <a:prstGeom prst="roundRect">
            <a:avLst/>
          </a:prstGeom>
          <a:solidFill>
            <a:srgbClr val="6F4A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956816"/>
            <a:ext cx="621792" cy="21031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700" b="1">
                <a:solidFill>
                  <a:srgbClr val="FFFFFF"/>
                </a:solidFill>
                <a:latin typeface="Apple SD Gothic Neo"/>
              </a:rPr>
              <a:t>Q1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2313432"/>
            <a:ext cx="3221736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72033"/>
                </a:solidFill>
                <a:latin typeface="Apple SD Gothic Neo"/>
              </a:rPr>
              <a:t>결제 × 캠페인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2752344"/>
            <a:ext cx="3221736" cy="3337559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A6475"/>
                </a:solidFill>
                <a:latin typeface="Apple SD Gothic Neo"/>
              </a:rPr>
              <a:t>외부 결제 정책·서비스 공지가 분석 시점과 맞는가?
범위 불일치 시 인과 추정 금지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00728" y="1783080"/>
            <a:ext cx="3587496" cy="4434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6F4A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483608" y="1947672"/>
            <a:ext cx="621792" cy="256032"/>
          </a:xfrm>
          <a:prstGeom prst="roundRect">
            <a:avLst/>
          </a:prstGeom>
          <a:solidFill>
            <a:srgbClr val="6F4A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83608" y="1956816"/>
            <a:ext cx="621792" cy="21031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700" b="1">
                <a:solidFill>
                  <a:srgbClr val="FFFFFF"/>
                </a:solidFill>
                <a:latin typeface="Apple SD Gothic Neo"/>
              </a:rPr>
              <a:t>Q2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3608" y="2313432"/>
            <a:ext cx="3221736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72033"/>
                </a:solidFill>
                <a:latin typeface="Apple SD Gothic Neo"/>
              </a:rPr>
              <a:t>배송 × 반품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3608" y="2752344"/>
            <a:ext cx="3221736" cy="3337559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A6475"/>
                </a:solidFill>
                <a:latin typeface="Apple SD Gothic Neo"/>
              </a:rPr>
              <a:t>운송사·물류 공지가 지역과 기간에 부합하는가?
공개 사실과 내부 불만을 분리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71104" y="1783080"/>
            <a:ext cx="3587496" cy="4434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6F4A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253983" y="1947672"/>
            <a:ext cx="621792" cy="256032"/>
          </a:xfrm>
          <a:prstGeom prst="roundRect">
            <a:avLst/>
          </a:prstGeom>
          <a:solidFill>
            <a:srgbClr val="6F4A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53983" y="1956816"/>
            <a:ext cx="621792" cy="21031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700" b="1">
                <a:solidFill>
                  <a:srgbClr val="FFFFFF"/>
                </a:solidFill>
                <a:latin typeface="Apple SD Gothic Neo"/>
              </a:rPr>
              <a:t>Q3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53983" y="2313432"/>
            <a:ext cx="3221736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72033"/>
                </a:solidFill>
                <a:latin typeface="Apple SD Gothic Neo"/>
              </a:rPr>
              <a:t>핵심 상품 3종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53983" y="2752344"/>
            <a:ext cx="3221736" cy="3337559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A6475"/>
                </a:solidFill>
                <a:latin typeface="Apple SD Gothic Neo"/>
              </a:rPr>
              <a:t>제품·정책·소비자 공지가 품목 범위와 맞는가?
카테고리 수준 근거는 제한 표시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0352" y="6510528"/>
            <a:ext cx="1033272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7B8493"/>
                </a:solidFill>
                <a:latin typeface="Apple SD Gothic Neo"/>
              </a:rPr>
              <a:t>Source: track3/WORKBOOK.md §시나리오 연결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09960" y="6473952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7B8493"/>
                </a:solidFill>
                <a:latin typeface="Apple SD Gothic Neo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0352" y="256032"/>
            <a:ext cx="4114800" cy="2377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>
                <a:solidFill>
                  <a:srgbClr val="6F4ACB"/>
                </a:solidFill>
                <a:latin typeface="Apple SD Gothic Neo"/>
              </a:rPr>
              <a:t>SAFE QUERY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173968" y="246888"/>
            <a:ext cx="438912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1">
                <a:solidFill>
                  <a:srgbClr val="5A6475"/>
                </a:solidFill>
                <a:latin typeface="Apple SD Gothic Neo"/>
              </a:rPr>
              <a:t>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76072"/>
            <a:ext cx="1106424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172033"/>
                </a:solidFill>
                <a:latin typeface="Apple SD Gothic Neo"/>
              </a:rPr>
              <a:t>내부 질문을 공개 검색어로 바꾸는 안전 경계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115568"/>
            <a:ext cx="10972800" cy="4572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5A6475"/>
                </a:solidFill>
                <a:latin typeface="Apple SD Gothic Neo"/>
              </a:rPr>
              <a:t>질문의 목적은 유지하되 고객명, 주문번호, 내부 URL, 미공개 수치, 토큰은 제거합니다.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30352" y="2148840"/>
            <a:ext cx="2617470" cy="2834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76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13232" y="2313432"/>
            <a:ext cx="621792" cy="256032"/>
          </a:xfrm>
          <a:prstGeom prst="roundRect">
            <a:avLst/>
          </a:prstGeom>
          <a:solidFill>
            <a:srgbClr val="276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2322576"/>
            <a:ext cx="621792" cy="21031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700" b="1">
                <a:solidFill>
                  <a:srgbClr val="FFFFFF"/>
                </a:solidFill>
                <a:latin typeface="Apple SD Gothic Neo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2679192"/>
            <a:ext cx="2251710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72033"/>
                </a:solidFill>
                <a:latin typeface="Apple SD Gothic Neo"/>
              </a:rPr>
              <a:t>분리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3118104"/>
            <a:ext cx="2251710" cy="17373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A6475"/>
                </a:solidFill>
                <a:latin typeface="Apple SD Gothic Neo"/>
              </a:rPr>
              <a:t>내부 원인 분석과
공개 사실 확인을 구분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3083814" y="3410712"/>
            <a:ext cx="347472" cy="256032"/>
          </a:xfrm>
          <a:prstGeom prst="rightArrow">
            <a:avLst/>
          </a:prstGeom>
          <a:solidFill>
            <a:srgbClr val="6F4A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367278" y="2148840"/>
            <a:ext cx="2617470" cy="2834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43B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550158" y="2313432"/>
            <a:ext cx="621792" cy="256032"/>
          </a:xfrm>
          <a:prstGeom prst="roundRect">
            <a:avLst/>
          </a:prstGeom>
          <a:solidFill>
            <a:srgbClr val="C43B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50158" y="2322576"/>
            <a:ext cx="621792" cy="21031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700" b="1">
                <a:solidFill>
                  <a:srgbClr val="FFFFFF"/>
                </a:solidFill>
                <a:latin typeface="Apple SD Gothic Neo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50158" y="2679192"/>
            <a:ext cx="2251710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72033"/>
                </a:solidFill>
                <a:latin typeface="Apple SD Gothic Neo"/>
              </a:rPr>
              <a:t>삭제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50158" y="3118104"/>
            <a:ext cx="2251710" cy="17373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A6475"/>
                </a:solidFill>
                <a:latin typeface="Apple SD Gothic Neo"/>
              </a:rPr>
              <a:t>고객명 · 주문번호
내부 URL · 비공개 수치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5920740" y="3410712"/>
            <a:ext cx="347472" cy="256032"/>
          </a:xfrm>
          <a:prstGeom prst="rightArrow">
            <a:avLst/>
          </a:prstGeom>
          <a:solidFill>
            <a:srgbClr val="6F4A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204204" y="2148840"/>
            <a:ext cx="2617470" cy="2834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6F4A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387084" y="2313432"/>
            <a:ext cx="621792" cy="256032"/>
          </a:xfrm>
          <a:prstGeom prst="roundRect">
            <a:avLst/>
          </a:prstGeom>
          <a:solidFill>
            <a:srgbClr val="6F4A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87084" y="2322576"/>
            <a:ext cx="621792" cy="21031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700" b="1">
                <a:solidFill>
                  <a:srgbClr val="FFFFFF"/>
                </a:solidFill>
                <a:latin typeface="Apple SD Gothic Neo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87084" y="2679192"/>
            <a:ext cx="2251710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72033"/>
                </a:solidFill>
                <a:latin typeface="Apple SD Gothic Neo"/>
              </a:rPr>
              <a:t>범위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87084" y="3118104"/>
            <a:ext cx="2251710" cy="17373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A6475"/>
                </a:solidFill>
                <a:latin typeface="Apple SD Gothic Neo"/>
              </a:rPr>
              <a:t>제품 · 지역 · 기간
확인할 공개 주장 명시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8757666" y="3410712"/>
            <a:ext cx="347472" cy="256032"/>
          </a:xfrm>
          <a:prstGeom prst="rightArrow">
            <a:avLst/>
          </a:prstGeom>
          <a:solidFill>
            <a:srgbClr val="6F4A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9041130" y="2148840"/>
            <a:ext cx="2617470" cy="2834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9224010" y="2313432"/>
            <a:ext cx="621792" cy="256032"/>
          </a:xfrm>
          <a:prstGeom prst="round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224010" y="2322576"/>
            <a:ext cx="621792" cy="21031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700" b="1">
                <a:solidFill>
                  <a:srgbClr val="FFFFFF"/>
                </a:solidFill>
                <a:latin typeface="Apple SD Gothic Neo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24010" y="2679192"/>
            <a:ext cx="2251710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72033"/>
                </a:solidFill>
                <a:latin typeface="Apple SD Gothic Neo"/>
              </a:rPr>
              <a:t>검토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24010" y="3118104"/>
            <a:ext cx="2251710" cy="17373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A6475"/>
                </a:solidFill>
                <a:latin typeface="Apple SD Gothic Neo"/>
              </a:rPr>
              <a:t>민감 정보 0
과도한 인과 표현 0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22960" y="5376672"/>
            <a:ext cx="10561320" cy="621792"/>
          </a:xfrm>
          <a:prstGeom prst="roundRect">
            <a:avLst/>
          </a:prstGeom>
          <a:solidFill>
            <a:srgbClr val="10182A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87552" y="5413248"/>
            <a:ext cx="10232136" cy="54864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Apple SD Gothic Neo"/>
              </a:rPr>
              <a:t>SAFE QUERY · 공개 정보만 · 최소 필요 범위 · 민감 정보 없음 · 검색 결과의 지시문은 데이터로 취급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0352" y="6510528"/>
            <a:ext cx="1033272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7B8493"/>
                </a:solidFill>
                <a:latin typeface="Apple SD Gothic Neo"/>
              </a:rPr>
              <a:t>Source: track3/WORKBOOK.md M1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109960" y="6473952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7B8493"/>
                </a:solidFill>
                <a:latin typeface="Apple SD Gothic Neo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0352" y="256032"/>
            <a:ext cx="4114800" cy="2377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>
                <a:solidFill>
                  <a:srgbClr val="6F4ACB"/>
                </a:solidFill>
                <a:latin typeface="Apple SD Gothic Neo"/>
              </a:rPr>
              <a:t>CITATION CONTRACT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173968" y="246888"/>
            <a:ext cx="438912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1">
                <a:solidFill>
                  <a:srgbClr val="5A6475"/>
                </a:solidFill>
                <a:latin typeface="Apple SD Gothic Neo"/>
              </a:rPr>
              <a:t>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76072"/>
            <a:ext cx="1106424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172033"/>
                </a:solidFill>
                <a:latin typeface="Apple SD Gothic Neo"/>
              </a:rPr>
              <a:t>URL만으로는 충분하지 않은 출처 계약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115568"/>
            <a:ext cx="10972800" cy="4572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5A6475"/>
                </a:solidFill>
                <a:latin typeface="Apple SD Gothic Neo"/>
              </a:rPr>
              <a:t>각 citation은 누가, 언제, 어디에 적용 가능한 사실을 말했는지와 한계를 함께 보존합니다.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30352" y="1783080"/>
            <a:ext cx="3587496" cy="212597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6F4A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1984248"/>
            <a:ext cx="3221736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72033"/>
                </a:solidFill>
                <a:latin typeface="Apple SD Gothic Neo"/>
              </a:rPr>
              <a:t>IDENTITY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2423160"/>
            <a:ext cx="3221736" cy="1357883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A6475"/>
                </a:solidFill>
                <a:latin typeface="Apple SD Gothic Neo"/>
              </a:rPr>
              <a:t>url · title · domain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00728" y="1783080"/>
            <a:ext cx="3587496" cy="212597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6F4A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83608" y="1984248"/>
            <a:ext cx="3221736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72033"/>
                </a:solidFill>
                <a:latin typeface="Apple SD Gothic Neo"/>
              </a:rPr>
              <a:t>TIME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3608" y="2423160"/>
            <a:ext cx="3221736" cy="1357883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A6475"/>
                </a:solidFill>
                <a:latin typeface="Apple SD Gothic Neo"/>
              </a:rPr>
              <a:t>observedAt
확인 시각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71104" y="1783080"/>
            <a:ext cx="3587496" cy="212597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6F4A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53983" y="1984248"/>
            <a:ext cx="3221736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72033"/>
                </a:solidFill>
                <a:latin typeface="Apple SD Gothic Neo"/>
              </a:rPr>
              <a:t>SCOPE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53983" y="2423160"/>
            <a:ext cx="3221736" cy="1357883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A6475"/>
                </a:solidFill>
                <a:latin typeface="Apple SD Gothic Neo"/>
              </a:rPr>
              <a:t>제품 · 지역 · 기간
적용 범위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30352" y="4091939"/>
            <a:ext cx="3587496" cy="212597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13232" y="4293107"/>
            <a:ext cx="3221736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72033"/>
                </a:solidFill>
                <a:latin typeface="Apple SD Gothic Neo"/>
              </a:rPr>
              <a:t>FACT STATUS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3232" y="4732019"/>
            <a:ext cx="3221736" cy="13578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A6475"/>
                </a:solidFill>
                <a:latin typeface="Apple SD Gothic Neo"/>
              </a:rPr>
              <a:t>확인됨 · 제한됨
미확인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00728" y="4091939"/>
            <a:ext cx="3587496" cy="212597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76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83608" y="4293107"/>
            <a:ext cx="3221736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72033"/>
                </a:solidFill>
                <a:latin typeface="Apple SD Gothic Neo"/>
              </a:rPr>
              <a:t>MATCH LEVEL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83608" y="4732019"/>
            <a:ext cx="3221736" cy="13578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A6475"/>
                </a:solidFill>
                <a:latin typeface="Apple SD Gothic Neo"/>
              </a:rPr>
              <a:t>direct-match
category-level
source-capability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71104" y="4091939"/>
            <a:ext cx="3587496" cy="212597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65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53983" y="4293107"/>
            <a:ext cx="3221736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72033"/>
                </a:solidFill>
                <a:latin typeface="Apple SD Gothic Neo"/>
              </a:rPr>
              <a:t>LIMITATIONS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53983" y="4732019"/>
            <a:ext cx="3221736" cy="13578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A6475"/>
                </a:solidFill>
                <a:latin typeface="Apple SD Gothic Neo"/>
              </a:rPr>
              <a:t>불확실성 · 누락
인과 해석 제한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0352" y="6510528"/>
            <a:ext cx="1033272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7B8493"/>
                </a:solidFill>
                <a:latin typeface="Apple SD Gothic Neo"/>
              </a:rPr>
              <a:t>Source: track3/WORKBOOK.md M2/M3 · track3/data/source_catalog.json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09960" y="6473952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7B8493"/>
                </a:solidFill>
                <a:latin typeface="Apple SD Gothic Neo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0352" y="256032"/>
            <a:ext cx="4114800" cy="2377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>
                <a:solidFill>
                  <a:srgbClr val="6F4ACB"/>
                </a:solidFill>
                <a:latin typeface="Apple SD Gothic Neo"/>
              </a:rPr>
              <a:t>EXECUTION BOUNDARY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173968" y="246888"/>
            <a:ext cx="438912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1">
                <a:solidFill>
                  <a:srgbClr val="5A6475"/>
                </a:solidFill>
                <a:latin typeface="Apple SD Gothic Neo"/>
              </a:rPr>
              <a:t>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76072"/>
            <a:ext cx="1106424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172033"/>
                </a:solidFill>
                <a:latin typeface="Apple SD Gothic Neo"/>
              </a:rPr>
              <a:t>Web Search와 fixture의 증거 수준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115568"/>
            <a:ext cx="10972800" cy="4572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5A6475"/>
                </a:solidFill>
                <a:latin typeface="Apple SD Gothic Neo"/>
              </a:rPr>
              <a:t>두 경로는 같은 citation 계약을 사용하지만 운영 의미는 다릅니다.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30352" y="1783080"/>
            <a:ext cx="5394960" cy="4160520"/>
          </a:xfrm>
          <a:prstGeom prst="roundRect">
            <a:avLst/>
          </a:prstGeom>
          <a:solidFill>
            <a:srgbClr val="F0EBFC"/>
          </a:solidFill>
          <a:ln w="12700">
            <a:solidFill>
              <a:srgbClr val="6F4A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13232" y="1947672"/>
            <a:ext cx="621792" cy="256032"/>
          </a:xfrm>
          <a:prstGeom prst="roundRect">
            <a:avLst/>
          </a:prstGeom>
          <a:solidFill>
            <a:srgbClr val="6F4A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956816"/>
            <a:ext cx="621792" cy="21031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700" b="1">
                <a:solidFill>
                  <a:srgbClr val="FFFFFF"/>
                </a:solidFill>
                <a:latin typeface="Apple SD Gothic Neo"/>
              </a:rPr>
              <a:t>LIVE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2313432"/>
            <a:ext cx="5029200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72033"/>
                </a:solidFill>
                <a:latin typeface="Apple SD Gothic Neo"/>
              </a:rPr>
              <a:t>승인된 Web Search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2752344"/>
            <a:ext cx="5029200" cy="3063239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5A6475"/>
                </a:solidFill>
                <a:latin typeface="Apple SD Gothic Neo"/>
              </a:rPr>
              <a:t>현재 웹에서 실제 결과 확인
URL citation과 관찰 시각 기록
도구 설정·검색 범위·네트워크 검증
현재성은 실행 시점에만 유효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45352" y="1783080"/>
            <a:ext cx="5394960" cy="4160520"/>
          </a:xfrm>
          <a:prstGeom prst="roundRect">
            <a:avLst/>
          </a:prstGeom>
          <a:solidFill>
            <a:srgbClr val="EAF1FF"/>
          </a:solidFill>
          <a:ln w="12700">
            <a:solidFill>
              <a:srgbClr val="276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428232" y="1947672"/>
            <a:ext cx="621792" cy="256032"/>
          </a:xfrm>
          <a:prstGeom prst="roundRect">
            <a:avLst/>
          </a:prstGeom>
          <a:solidFill>
            <a:srgbClr val="276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28232" y="1956816"/>
            <a:ext cx="621792" cy="21031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700" b="1">
                <a:solidFill>
                  <a:srgbClr val="FFFFFF"/>
                </a:solidFill>
                <a:latin typeface="Apple SD Gothic Neo"/>
              </a:rPr>
              <a:t>FIXTURE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28232" y="2313432"/>
            <a:ext cx="5029200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72033"/>
                </a:solidFill>
                <a:latin typeface="Apple SD Gothic Neo"/>
              </a:rPr>
              <a:t>교육용 고정 근거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28232" y="2752344"/>
            <a:ext cx="5029200" cy="3063239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5A6475"/>
                </a:solidFill>
                <a:latin typeface="Apple SD Gothic Neo"/>
              </a:rPr>
              <a:t>키 없이 반복 가능한 시나리오
허용 도메인과 citation 계약 학습
validator와 fallback 회귀
현재 웹 사실이나 live 성공을 증명하지 않음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5559552"/>
            <a:ext cx="9921240" cy="502920"/>
          </a:xfrm>
          <a:prstGeom prst="roundRect">
            <a:avLst/>
          </a:prstGeom>
          <a:solidFill>
            <a:srgbClr val="10182A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07592" y="5596128"/>
            <a:ext cx="9592056" cy="42976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Apple SD Gothic Neo"/>
              </a:rPr>
              <a:t>공통 안전 정책 · 허용 도메인 · prompt injection 격리 · 범위 불일치 표시 · citation 없는 주장 금지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0352" y="6510528"/>
            <a:ext cx="1033272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7B8493"/>
                </a:solidFill>
                <a:latin typeface="Apple SD Gothic Neo"/>
              </a:rPr>
              <a:t>Source: track3/WORKBOOK.md M2 · track3/data/README.md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09960" y="6473952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7B8493"/>
                </a:solidFill>
                <a:latin typeface="Apple SD Gothic Neo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0352" y="256032"/>
            <a:ext cx="4114800" cy="2377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>
                <a:solidFill>
                  <a:srgbClr val="6F4ACB"/>
                </a:solidFill>
                <a:latin typeface="Apple SD Gothic Neo"/>
              </a:rPr>
              <a:t>TRACK4 HANDOFF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173968" y="246888"/>
            <a:ext cx="438912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1">
                <a:solidFill>
                  <a:srgbClr val="5A6475"/>
                </a:solidFill>
                <a:latin typeface="Apple SD Gothic Neo"/>
              </a:rPr>
              <a:t>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76072"/>
            <a:ext cx="1106424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172033"/>
                </a:solidFill>
                <a:latin typeface="Apple SD Gothic Neo"/>
              </a:rPr>
              <a:t>WEBIQ_HANDOFF_PACKAGE로 책임을 보존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115568"/>
            <a:ext cx="10972800" cy="4572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5A6475"/>
                </a:solidFill>
                <a:latin typeface="Apple SD Gothic Neo"/>
              </a:rPr>
              <a:t>FoundryIQ가 공개 웹 근거를 내부 데이터·문서와 혼합하지 않도록 citation과 한계를 구조화해 전달합니다.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30352" y="1783080"/>
            <a:ext cx="3587496" cy="212597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6F4A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1984248"/>
            <a:ext cx="3221736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72033"/>
                </a:solidFill>
                <a:latin typeface="Apple SD Gothic Neo"/>
              </a:rPr>
              <a:t>SCENARIO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2423160"/>
            <a:ext cx="3221736" cy="1357883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A6475"/>
                </a:solidFill>
                <a:latin typeface="Apple SD Gothic Neo"/>
              </a:rPr>
              <a:t>Q1–Q3
공개 확인 질문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00728" y="1783080"/>
            <a:ext cx="3587496" cy="212597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6F4A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83608" y="1984248"/>
            <a:ext cx="3221736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72033"/>
                </a:solidFill>
                <a:latin typeface="Apple SD Gothic Neo"/>
              </a:rPr>
              <a:t>CITATIONS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3608" y="2423160"/>
            <a:ext cx="3221736" cy="1357883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A6475"/>
                </a:solidFill>
                <a:latin typeface="Apple SD Gothic Neo"/>
              </a:rPr>
              <a:t>질문별 2개 이상
URL · title · domain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71104" y="1783080"/>
            <a:ext cx="3587496" cy="212597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76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53983" y="1984248"/>
            <a:ext cx="3221736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72033"/>
                </a:solidFill>
                <a:latin typeface="Apple SD Gothic Neo"/>
              </a:rPr>
              <a:t>OBSERVED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53983" y="2423160"/>
            <a:ext cx="3221736" cy="1357883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A6475"/>
                </a:solidFill>
                <a:latin typeface="Apple SD Gothic Neo"/>
              </a:rPr>
              <a:t>observedAt
확인 시각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30352" y="4091939"/>
            <a:ext cx="3587496" cy="212597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13232" y="4293107"/>
            <a:ext cx="3221736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72033"/>
                </a:solidFill>
                <a:latin typeface="Apple SD Gothic Neo"/>
              </a:rPr>
              <a:t>SCOPE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3232" y="4732019"/>
            <a:ext cx="3221736" cy="13578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A6475"/>
                </a:solidFill>
                <a:latin typeface="Apple SD Gothic Neo"/>
              </a:rPr>
              <a:t>제품 · 지역 · 기간
match level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00728" y="4091939"/>
            <a:ext cx="3587496" cy="212597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65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83608" y="4293107"/>
            <a:ext cx="3221736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72033"/>
                </a:solidFill>
                <a:latin typeface="Apple SD Gothic Neo"/>
              </a:rPr>
              <a:t>LIMITATIONS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83608" y="4732019"/>
            <a:ext cx="3221736" cy="13578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A6475"/>
                </a:solidFill>
                <a:latin typeface="Apple SD Gothic Neo"/>
              </a:rPr>
              <a:t>불확실성
인과 해석 제한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71104" y="4091939"/>
            <a:ext cx="3587496" cy="212597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43B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53983" y="4293107"/>
            <a:ext cx="3221736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72033"/>
                </a:solidFill>
                <a:latin typeface="Apple SD Gothic Neo"/>
              </a:rPr>
              <a:t>SAFETY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53983" y="4732019"/>
            <a:ext cx="3221736" cy="13578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A6475"/>
                </a:solidFill>
                <a:latin typeface="Apple SD Gothic Neo"/>
              </a:rPr>
              <a:t>민감 정보 0
페이지 지시문 미실행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0352" y="6510528"/>
            <a:ext cx="1033272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7B8493"/>
                </a:solidFill>
                <a:latin typeface="Apple SD Gothic Neo"/>
              </a:rPr>
              <a:t>Source: track3/WORKBOOK.md M4 · track4/PREREQUISITES.md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09960" y="6473952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7B8493"/>
                </a:solidFill>
                <a:latin typeface="Apple SD Gothic Neo"/>
              </a:rPr>
              <a:t>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