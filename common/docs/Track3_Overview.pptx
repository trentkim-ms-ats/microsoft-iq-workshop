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353312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512064"/>
            <a:ext cx="126187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TRACK 3 · FOUNDRYIQ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42416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56" b="1">
                <a:solidFill>
                  <a:srgbClr val="FFFFFF"/>
                </a:solidFill>
                <a:latin typeface="Arial"/>
              </a:rPr>
              <a:t>두 개의 근거 소스를 하나의 운영 응답으로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47088"/>
            <a:ext cx="90525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92" b="0">
                <a:solidFill>
                  <a:srgbClr val="CBD5E1"/>
                </a:solidFill>
                <a:latin typeface="Arial"/>
              </a:rPr>
              <a:t>FabricIQ 정형 지표와 WorkIQ 업무 근거를 라우팅·결합하고, fallback과 strict 평가를 거쳐 리더십 브리핑을 생성합니다.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100분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15 + 45 + 25 + 15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Q1–Q3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표준 통합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3055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2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3055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FabricIQ + WorkIQ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68512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96528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3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A down · B down · both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4617720"/>
            <a:ext cx="1056132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828032"/>
            <a:ext cx="14173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1D4ED8"/>
                </a:solidFill>
                <a:latin typeface="Arial"/>
              </a:rPr>
              <a:t>TRACK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754880"/>
            <a:ext cx="84582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sourceTrace와 경고가 포함된 근거 기반 FoundryIQ 응답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94A3B8"/>
                </a:solidFill>
                <a:latin typeface="Arial"/>
              </a:rPr>
              <a:t>Source: track3/WORKBOOK.md · Track3 Technical Guide</a:t>
            </a:r>
          </a:p>
        </p:txBody>
      </p:sp>
      <p:sp>
        <p:nvSpPr>
          <p:cNvPr id="22" name="Oval 21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94A3B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ROLE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FoundryIQ는 오케스트레이션 계층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수치나 링크를 새로 만드는 것이 아니라, 각 IQ의 결과를 올바르게 라우팅·결합·평가합니다.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AGENTS.md · track3/WORKBOOK.md §3-IQ 역할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755648"/>
            <a:ext cx="2057400" cy="114300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011680"/>
            <a:ext cx="15544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Arial"/>
              </a:rPr>
              <a:t>사용자 질문</a:t>
            </a:r>
          </a:p>
        </p:txBody>
      </p:sp>
      <p:sp>
        <p:nvSpPr>
          <p:cNvPr id="11" name="Chevron 10"/>
          <p:cNvSpPr/>
          <p:nvPr/>
        </p:nvSpPr>
        <p:spPr>
          <a:xfrm>
            <a:off x="2852928" y="2103120"/>
            <a:ext cx="329184" cy="43891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10128" y="1627632"/>
            <a:ext cx="2761488" cy="13716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847088"/>
            <a:ext cx="2249424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>
                <a:solidFill>
                  <a:srgbClr val="1D4ED8"/>
                </a:solidFill>
                <a:latin typeface="Arial"/>
              </a:rPr>
              <a:t>FoundryIQ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286000"/>
            <a:ext cx="2249424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F2937"/>
                </a:solidFill>
                <a:latin typeface="Arial"/>
              </a:rPr>
              <a:t>질문 분해 · Tool 라우팅
정책 결합 · 평가 · fallback</a:t>
            </a:r>
          </a:p>
        </p:txBody>
      </p:sp>
      <p:sp>
        <p:nvSpPr>
          <p:cNvPr id="15" name="Chevron 14"/>
          <p:cNvSpPr/>
          <p:nvPr/>
        </p:nvSpPr>
        <p:spPr>
          <a:xfrm>
            <a:off x="6254496" y="2103120"/>
            <a:ext cx="329184" cy="43891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11696" y="1755648"/>
            <a:ext cx="205740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011680"/>
            <a:ext cx="1581912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D4ED8"/>
                </a:solidFill>
                <a:latin typeface="Arial"/>
              </a:rPr>
              <a:t>Responses API</a:t>
            </a:r>
          </a:p>
        </p:txBody>
      </p:sp>
      <p:sp>
        <p:nvSpPr>
          <p:cNvPr id="18" name="Chevron 17"/>
          <p:cNvSpPr/>
          <p:nvPr/>
        </p:nvSpPr>
        <p:spPr>
          <a:xfrm>
            <a:off x="8942832" y="2103120"/>
            <a:ext cx="329184" cy="438912"/>
          </a:xfrm>
          <a:prstGeom prst="chevron">
            <a:avLst/>
          </a:prstGeom>
          <a:solidFill>
            <a:srgbClr val="111827"/>
          </a:solidFill>
          <a:ln w="50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00032" y="1755648"/>
            <a:ext cx="2148840" cy="114300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46920" y="2011680"/>
            <a:ext cx="166420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Arial"/>
              </a:rPr>
              <a:t>브리핑 + 조치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50592" y="2999232"/>
            <a:ext cx="1591056" cy="658368"/>
          </a:xfrm>
          <a:prstGeom prst="line">
            <a:avLst/>
          </a:prstGeom>
          <a:ln w="228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5340096" y="2999232"/>
            <a:ext cx="749808" cy="658368"/>
          </a:xfrm>
          <a:prstGeom prst="line">
            <a:avLst/>
          </a:prstGeom>
          <a:ln w="228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8229600" y="2898648"/>
            <a:ext cx="1499616" cy="758952"/>
          </a:xfrm>
          <a:prstGeom prst="line">
            <a:avLst/>
          </a:prstGeom>
          <a:ln w="228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9808" y="3657600"/>
            <a:ext cx="340156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" y="3840480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849624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TOOL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261104"/>
            <a:ext cx="303580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FabricIQ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572000"/>
            <a:ext cx="303580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Ontology 경로
정형 지표 · sourceTrace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3657600"/>
            <a:ext cx="340156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0" y="3840480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849624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TOOL 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261104"/>
            <a:ext cx="303580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WorkIQ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572000"/>
            <a:ext cx="303580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ACL 적용 검색
근거 링크 · coverage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1" y="3657600"/>
            <a:ext cx="3401568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11311" y="3840480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7031" y="3849624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POLICY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1" y="4261104"/>
            <a:ext cx="303580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FoundryIQ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4572000"/>
            <a:ext cx="303580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근거 결합 · warnings
상태 판정 · fallback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MISSION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4개 미션 · 100분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입력 검수에서 시작해 정책 구성, 통합 실행, fallback 평가와 최종 제출까지 완료합니다.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track3/WORKBOOK.md §중간 점검/단계별 미션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258318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039112"/>
            <a:ext cx="749808" cy="310896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48255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15분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78024"/>
            <a:ext cx="22539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M1 · Kickoff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62072"/>
            <a:ext cx="225399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Track2 인계 검수
Tool A/B 헬스체크</a:t>
            </a:r>
          </a:p>
        </p:txBody>
      </p:sp>
      <p:sp>
        <p:nvSpPr>
          <p:cNvPr id="14" name="Chevron 13"/>
          <p:cNvSpPr/>
          <p:nvPr/>
        </p:nvSpPr>
        <p:spPr>
          <a:xfrm>
            <a:off x="3177540" y="2606039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7852" y="1874519"/>
            <a:ext cx="258318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52444" y="2039112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8164" y="2048255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45분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2444" y="2478024"/>
            <a:ext cx="22539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M2 ·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2444" y="2862072"/>
            <a:ext cx="225399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라우팅·프롬프트
출력 형식 v0.1</a:t>
            </a:r>
          </a:p>
        </p:txBody>
      </p:sp>
      <p:sp>
        <p:nvSpPr>
          <p:cNvPr id="20" name="Chevron 19"/>
          <p:cNvSpPr/>
          <p:nvPr/>
        </p:nvSpPr>
        <p:spPr>
          <a:xfrm>
            <a:off x="5998464" y="2606039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8776" y="1874519"/>
            <a:ext cx="258318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73368" y="2039112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048255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25분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478024"/>
            <a:ext cx="22539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M3 · Execute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862072"/>
            <a:ext cx="225399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Q1–Q3 통합
fallback 3종</a:t>
            </a:r>
          </a:p>
        </p:txBody>
      </p:sp>
      <p:sp>
        <p:nvSpPr>
          <p:cNvPr id="26" name="Chevron 25"/>
          <p:cNvSpPr/>
          <p:nvPr/>
        </p:nvSpPr>
        <p:spPr>
          <a:xfrm>
            <a:off x="8819388" y="2606039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29699" y="1874519"/>
            <a:ext cx="258318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94291" y="2039112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0011" y="2048255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15분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4291" y="2478024"/>
            <a:ext cx="22539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M4 · Submit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4291" y="2862072"/>
            <a:ext cx="225399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평가·실행 로그
최종 브리핑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315968"/>
            <a:ext cx="1024128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07008" y="4544568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1D4ED8"/>
                </a:solidFill>
                <a:latin typeface="Arial"/>
              </a:rPr>
              <a:t>TIME MARKERS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498848"/>
            <a:ext cx="18288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T+15  A/B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498848"/>
            <a:ext cx="173736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T+60  Q1 draft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498848"/>
            <a:ext cx="233172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T+85  Q1–Q3 + fallback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0848" y="4498848"/>
            <a:ext cx="173736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T+100  briefing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24912" y="4956048"/>
            <a:ext cx="78181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DC2626"/>
                </a:solidFill>
                <a:latin typeface="Arial"/>
              </a:rPr>
              <a:t>Track2 인계 누락·링크 권한 오류는 M1에서 즉시 BLOCKED로 표면화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STANDARD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Q1–Q3 통합 질문과 응답 DoD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세 질문은 정형 지표와 비정형 근거를 모두 요구하도록 설계되어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track3/WORKBOOK.md §표준 질문/DoD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755648"/>
            <a:ext cx="3401568" cy="2487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1993392"/>
            <a:ext cx="493776" cy="493776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993392"/>
            <a:ext cx="493776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93852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결제 실패 × 캠페인 전환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633472"/>
            <a:ext cx="129844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642615"/>
            <a:ext cx="1207007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FFFFFF"/>
                </a:solidFill>
                <a:latin typeface="Arial"/>
              </a:rPr>
              <a:t>ONTOLOGY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54096"/>
            <a:ext cx="294436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>
                <a:solidFill>
                  <a:srgbClr val="1F2937"/>
                </a:solidFill>
                <a:latin typeface="Arial"/>
              </a:rPr>
              <a:t>Campaign → Order → Payment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21024"/>
            <a:ext cx="294436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D4ED8"/>
                </a:solidFill>
                <a:latin typeface="Arial"/>
              </a:rPr>
              <a:t>전환율 · 결제 실패율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1755648"/>
            <a:ext cx="3401568" cy="2487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45152" y="1993392"/>
            <a:ext cx="493776" cy="493776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1993392"/>
            <a:ext cx="493776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193852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배송 지연 × 반품·불만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2633472"/>
            <a:ext cx="129844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642615"/>
            <a:ext cx="1207007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FFFFFF"/>
                </a:solidFill>
                <a:latin typeface="Arial"/>
              </a:rPr>
              <a:t>ONTOLOGY PATH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054096"/>
            <a:ext cx="294436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>
                <a:solidFill>
                  <a:srgbClr val="1F2937"/>
                </a:solidFill>
                <a:latin typeface="Arial"/>
              </a:rPr>
              <a:t>Order → Shipment / Return / Ticket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3621024"/>
            <a:ext cx="294436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D4ED8"/>
                </a:solidFill>
                <a:latin typeface="Arial"/>
              </a:rPr>
              <a:t>지연군 반품률 · 불만율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755648"/>
            <a:ext cx="3401568" cy="2487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49056" y="1993392"/>
            <a:ext cx="493776" cy="493776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1993392"/>
            <a:ext cx="493776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193852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핵심 상품 3종 신호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49056" y="2633472"/>
            <a:ext cx="129844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94776" y="2642615"/>
            <a:ext cx="1207007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FFFFFF"/>
                </a:solidFill>
                <a:latin typeface="Arial"/>
              </a:rPr>
              <a:t>ONTOLOGY 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3054096"/>
            <a:ext cx="294436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>
                <a:solidFill>
                  <a:srgbClr val="1F2937"/>
                </a:solidFill>
                <a:latin typeface="Arial"/>
              </a:rPr>
              <a:t>Product → Order / Return /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3621024"/>
            <a:ext cx="294436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D4ED8"/>
                </a:solidFill>
                <a:latin typeface="Arial"/>
              </a:rPr>
              <a:t>상품별 매출 · 반품률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88720" y="4645152"/>
            <a:ext cx="9802368" cy="91440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3040" y="4882896"/>
            <a:ext cx="15087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AFC4FF"/>
                </a:solidFill>
                <a:latin typeface="Arial"/>
              </a:rPr>
              <a:t>RESPONSE DoD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0672" y="4828032"/>
            <a:ext cx="754380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>
                <a:solidFill>
                  <a:srgbClr val="FFFFFF"/>
                </a:solidFill>
                <a:latin typeface="Arial"/>
              </a:rPr>
              <a:t>질문별 정형 핵심 지표 ≥ 1  ·  근거 링크 ≥ 2  ·  sourceTrace  ·  조치안 ≥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ADAPTER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Tool A/B는 워크숍용 POST JSON adapter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원시 제품 URL이 아니라 공통 요청을 각 IQ 계층의 응답 계약으로 변환하는 실행 경계입니다.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AGENTS.md live adapter 계약 · track3/data/README.md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03904" y="1664208"/>
            <a:ext cx="4590288" cy="98755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1865376"/>
            <a:ext cx="153619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AFC4FF"/>
                </a:solidFill>
                <a:latin typeface="Arial"/>
              </a:rPr>
              <a:t>COMMON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1828800"/>
            <a:ext cx="242316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scenarioId  ·  question  ·  semanticKeys[]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017520" y="2651760"/>
            <a:ext cx="1792224" cy="475488"/>
          </a:xfrm>
          <a:prstGeom prst="line">
            <a:avLst/>
          </a:prstGeom>
          <a:ln w="228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88352" y="2651760"/>
            <a:ext cx="1773936" cy="475488"/>
          </a:xfrm>
          <a:prstGeom prst="line">
            <a:avLst/>
          </a:prstGeom>
          <a:ln w="228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9808" y="3127248"/>
            <a:ext cx="4956048" cy="148132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346704"/>
            <a:ext cx="2395728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D4ED8"/>
                </a:solidFill>
                <a:latin typeface="Arial"/>
              </a:rPr>
              <a:t>FABRICIQ_ENDPOINT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877056"/>
            <a:ext cx="440740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structuredMetrics · highlights · sourceTrace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127248"/>
            <a:ext cx="4956048" cy="148132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3346704"/>
            <a:ext cx="2395728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D4ED8"/>
                </a:solidFill>
                <a:latin typeface="Arial"/>
              </a:rPr>
              <a:t>WORKIQ_ENDPOINT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877056"/>
            <a:ext cx="440740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evidenceLinks[] · sourceCoverage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992624"/>
            <a:ext cx="10378440" cy="822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5193792"/>
            <a:ext cx="16916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D4ED8"/>
                </a:solidFill>
                <a:latin typeface="Arial"/>
              </a:rPr>
              <a:t>RESPONSES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7792" y="5175504"/>
            <a:ext cx="196596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endpoint +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175504"/>
            <a:ext cx="340156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api-key  또는  Authorization: Bearer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5175504"/>
            <a:ext cx="239572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DC2626"/>
                </a:solidFill>
                <a:latin typeface="Arial"/>
              </a:rPr>
              <a:t>오류를 빈 성공으로 숨기지 않음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EXECUTION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simulation과 live의 증거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두 모드는 같은 response schema와 evaluator를 사용하지만 입력 소스와 운영 의미가 다릅니다.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AGENTS.md 실행 모드 · track3/data/README.md Dual Mode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55648"/>
            <a:ext cx="5138928" cy="3401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" y="1975104"/>
            <a:ext cx="129844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1984248"/>
            <a:ext cx="1207007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SIMULATION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" y="2560320"/>
            <a:ext cx="2084831" cy="9144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816352"/>
            <a:ext cx="175564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Track1 CSV fixture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5" y="2560320"/>
            <a:ext cx="2084831" cy="9144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2816352"/>
            <a:ext cx="175564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Track2 manifest fixture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4016" y="3639312"/>
            <a:ext cx="178308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9736" y="3648456"/>
            <a:ext cx="1691639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PARALLEL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4133087"/>
            <a:ext cx="451713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>
                <a:solidFill>
                  <a:srgbClr val="111827"/>
                </a:solidFill>
                <a:latin typeface="Arial"/>
              </a:rPr>
              <a:t>교육 · 리허설 · 회귀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4572000"/>
            <a:ext cx="451713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DC2626"/>
                </a:solidFill>
                <a:latin typeface="Arial"/>
              </a:rPr>
              <a:t>실제 권한·네트워크는 미증명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1755648"/>
            <a:ext cx="5138928" cy="3401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1975104"/>
            <a:ext cx="1298448" cy="310896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84248"/>
            <a:ext cx="1207007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560320"/>
            <a:ext cx="2084831" cy="9144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2" y="2816352"/>
            <a:ext cx="175564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FABRICIQ_ENDPOINT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1392" y="2560320"/>
            <a:ext cx="2084831" cy="9144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2816352"/>
            <a:ext cx="1755648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WORKIQ_ENDPOINT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36992" y="3639312"/>
            <a:ext cx="178308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2712" y="3648456"/>
            <a:ext cx="1691639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PARALLEL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133087"/>
            <a:ext cx="451713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>
                <a:solidFill>
                  <a:srgbClr val="111827"/>
                </a:solidFill>
                <a:latin typeface="Arial"/>
              </a:rPr>
              <a:t>실제 연결 · 데모 ·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572000"/>
            <a:ext cx="451713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1D4ED8"/>
                </a:solidFill>
                <a:latin typeface="Arial"/>
              </a:rPr>
              <a:t>ACL·오류를 명시적으로 표면화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38144" y="5577840"/>
            <a:ext cx="5321808" cy="310896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83863" y="5586983"/>
            <a:ext cx="5230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SHARED · Orchestrator + Responses API + strict evaluator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RESILIENCE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5s → 10s → 20s 재시도와 부분응답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정상 결과와 제한된 결과를 같은 성공 상태로 취급하지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AGENTS.md fallback 정책 · track3/WORKBOOK.md M3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55648"/>
            <a:ext cx="2834640" cy="111556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75104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D4ED8"/>
                </a:solidFill>
                <a:latin typeface="Arial"/>
              </a:rPr>
              <a:t>TRANSIENT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65376"/>
            <a:ext cx="129844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초기 + 5s + 10s + 20s
총 최대 4회 시도</a:t>
            </a:r>
          </a:p>
        </p:txBody>
      </p:sp>
      <p:sp>
        <p:nvSpPr>
          <p:cNvPr id="12" name="Chevron 11"/>
          <p:cNvSpPr/>
          <p:nvPr/>
        </p:nvSpPr>
        <p:spPr>
          <a:xfrm>
            <a:off x="3767328" y="2103120"/>
            <a:ext cx="310896" cy="43891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755648"/>
            <a:ext cx="722376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975104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D4ED8"/>
                </a:solidFill>
                <a:latin typeface="Arial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920240"/>
            <a:ext cx="53949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수치 정확성 · 링크 유효성 · sourceTrace · 환각/근거성 · 실행가능성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364992"/>
            <a:ext cx="2578608" cy="18288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2688" y="3566160"/>
            <a:ext cx="82296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575303"/>
            <a:ext cx="7315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041648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2563EB"/>
                </a:solidFill>
                <a:latin typeface="Arial"/>
              </a:rPr>
              <a:t>Tool A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443984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WorkIQ 근거만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828032"/>
            <a:ext cx="219456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76" b="1">
                <a:solidFill>
                  <a:srgbClr val="2563EB"/>
                </a:solidFill>
                <a:latin typeface="Arial"/>
              </a:rPr>
              <a:t>정형 수치 미검증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3364992"/>
            <a:ext cx="2578608" cy="182880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840480" y="3566160"/>
            <a:ext cx="82296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3575303"/>
            <a:ext cx="7315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041648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2563EB"/>
                </a:solidFill>
                <a:latin typeface="Arial"/>
              </a:rPr>
              <a:t>Tool B 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443984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FabricIQ 수치만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828032"/>
            <a:ext cx="219456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76" b="1">
                <a:solidFill>
                  <a:srgbClr val="2563EB"/>
                </a:solidFill>
                <a:latin typeface="Arial"/>
              </a:rPr>
              <a:t>업무 문서 근거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3364992"/>
            <a:ext cx="2578608" cy="1828800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48272" y="3566160"/>
            <a:ext cx="822960" cy="310896"/>
          </a:xfrm>
          <a:prstGeom prst="roundRect">
            <a:avLst/>
          </a:prstGeom>
          <a:solidFill>
            <a:srgbClr val="DC2626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93992" y="3575303"/>
            <a:ext cx="7315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BLOCKED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8272" y="4041648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DC2626"/>
                </a:solidFill>
                <a:latin typeface="Arial"/>
              </a:rPr>
              <a:t>Both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443984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응답 생성 중단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8272" y="4828032"/>
            <a:ext cx="219456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76" b="1">
                <a:solidFill>
                  <a:srgbClr val="DC2626"/>
                </a:solidFill>
                <a:latin typeface="Arial"/>
              </a:rPr>
              <a:t>원인 + 복구 조치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73184" y="3364992"/>
            <a:ext cx="2578608" cy="1828800"/>
          </a:xfrm>
          <a:prstGeom prst="roundRect">
            <a:avLst/>
          </a:prstGeom>
          <a:solidFill>
            <a:srgbClr val="E9F8EE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656063" y="3566160"/>
            <a:ext cx="822960" cy="310896"/>
          </a:xfrm>
          <a:prstGeom prst="roundRect">
            <a:avLst/>
          </a:prstGeom>
          <a:solidFill>
            <a:srgbClr val="16A34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01784" y="3575303"/>
            <a:ext cx="7315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PASS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3" y="4041648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16A34A"/>
                </a:solidFill>
                <a:latin typeface="Arial"/>
              </a:rPr>
              <a:t>Normal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6063" y="4443984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수치 + 근거 + 조치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3" y="4828032"/>
            <a:ext cx="219456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76" b="1">
                <a:solidFill>
                  <a:srgbClr val="16A34A"/>
                </a:solidFill>
                <a:latin typeface="Arial"/>
              </a:rPr>
              <a:t>strict 평가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5577840"/>
            <a:ext cx="75895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DC2626"/>
                </a:solidFill>
                <a:latin typeface="Arial"/>
              </a:rPr>
              <a:t>PARTIAL은 최종 PASS가 아니며 복구 후 표준 질문으로 재평가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AUTOMATION &amp;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generate → execute → evaluate →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로컬 reference pipeline과 live 운영은 동일한 strict 평가·발송 중단 정책을 공유합니다.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track3/data/README.md · tools/run_track3_daily_briefing.py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37360"/>
            <a:ext cx="195681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1938528"/>
            <a:ext cx="420624" cy="420624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938528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1920240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111827"/>
                </a:solidFill>
                <a:latin typeface="Arial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2523744"/>
            <a:ext cx="159105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>
                <a:solidFill>
                  <a:srgbClr val="64748B"/>
                </a:solidFill>
                <a:latin typeface="Arial"/>
              </a:rPr>
              <a:t>Q1–Q3 scenarios</a:t>
            </a:r>
          </a:p>
        </p:txBody>
      </p:sp>
      <p:sp>
        <p:nvSpPr>
          <p:cNvPr id="14" name="Chevron 13"/>
          <p:cNvSpPr/>
          <p:nvPr/>
        </p:nvSpPr>
        <p:spPr>
          <a:xfrm>
            <a:off x="2670048" y="2212848"/>
            <a:ext cx="201168" cy="365760"/>
          </a:xfrm>
          <a:prstGeom prst="chevron">
            <a:avLst/>
          </a:prstGeom>
          <a:solidFill>
            <a:srgbClr val="B8C4D8"/>
          </a:solidFill>
          <a:ln w="508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44368" y="1737360"/>
            <a:ext cx="195681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27248" y="1938528"/>
            <a:ext cx="420624" cy="420624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1938528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1920240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111827"/>
                </a:solidFill>
                <a:latin typeface="Arial"/>
              </a:rPr>
              <a:t>Execute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23744"/>
            <a:ext cx="159105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>
                <a:solidFill>
                  <a:srgbClr val="64748B"/>
                </a:solidFill>
                <a:latin typeface="Arial"/>
              </a:rPr>
              <a:t>normal + fallback</a:t>
            </a:r>
          </a:p>
        </p:txBody>
      </p:sp>
      <p:sp>
        <p:nvSpPr>
          <p:cNvPr id="20" name="Chevron 19"/>
          <p:cNvSpPr/>
          <p:nvPr/>
        </p:nvSpPr>
        <p:spPr>
          <a:xfrm>
            <a:off x="4956048" y="2212848"/>
            <a:ext cx="201168" cy="365760"/>
          </a:xfrm>
          <a:prstGeom prst="chevron">
            <a:avLst/>
          </a:prstGeom>
          <a:solidFill>
            <a:srgbClr val="B8C4D8"/>
          </a:solidFill>
          <a:ln w="508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30368" y="1737360"/>
            <a:ext cx="195681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13248" y="1938528"/>
            <a:ext cx="420624" cy="420624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248" y="1938528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1920240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111827"/>
                </a:solidFill>
                <a:latin typeface="Arial"/>
              </a:rP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523744"/>
            <a:ext cx="159105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>
                <a:solidFill>
                  <a:srgbClr val="64748B"/>
                </a:solidFill>
                <a:latin typeface="Arial"/>
              </a:rPr>
              <a:t>--strict</a:t>
            </a:r>
          </a:p>
        </p:txBody>
      </p:sp>
      <p:sp>
        <p:nvSpPr>
          <p:cNvPr id="26" name="Chevron 25"/>
          <p:cNvSpPr/>
          <p:nvPr/>
        </p:nvSpPr>
        <p:spPr>
          <a:xfrm>
            <a:off x="7242048" y="2212848"/>
            <a:ext cx="201168" cy="365760"/>
          </a:xfrm>
          <a:prstGeom prst="chevron">
            <a:avLst/>
          </a:prstGeom>
          <a:solidFill>
            <a:srgbClr val="B8C4D8"/>
          </a:solidFill>
          <a:ln w="508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16368" y="1737360"/>
            <a:ext cx="195681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99248" y="1938528"/>
            <a:ext cx="420624" cy="420624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99248" y="1938528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1920240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111827"/>
                </a:solidFill>
                <a:latin typeface="Arial"/>
              </a:rPr>
              <a:t>Brief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2523744"/>
            <a:ext cx="159105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>
                <a:solidFill>
                  <a:srgbClr val="64748B"/>
                </a:solidFill>
                <a:latin typeface="Arial"/>
              </a:rPr>
              <a:t>rules / LLM</a:t>
            </a:r>
          </a:p>
        </p:txBody>
      </p:sp>
      <p:sp>
        <p:nvSpPr>
          <p:cNvPr id="32" name="Chevron 31"/>
          <p:cNvSpPr/>
          <p:nvPr/>
        </p:nvSpPr>
        <p:spPr>
          <a:xfrm>
            <a:off x="9528048" y="2212848"/>
            <a:ext cx="201168" cy="365760"/>
          </a:xfrm>
          <a:prstGeom prst="chevron">
            <a:avLst/>
          </a:prstGeom>
          <a:solidFill>
            <a:srgbClr val="B8C4D8"/>
          </a:solidFill>
          <a:ln w="508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02368" y="1737360"/>
            <a:ext cx="195681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85248" y="1938528"/>
            <a:ext cx="420624" cy="420624"/>
          </a:xfrm>
          <a:prstGeom prst="ellipse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85248" y="1938528"/>
            <a:ext cx="4206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33888" y="1920240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>
                <a:solidFill>
                  <a:srgbClr val="111827"/>
                </a:solidFill>
                <a:latin typeface="Arial"/>
              </a:rPr>
              <a:t>Notify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85248" y="2523744"/>
            <a:ext cx="159105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>
                <a:solidFill>
                  <a:srgbClr val="64748B"/>
                </a:solidFill>
                <a:latin typeface="Arial"/>
              </a:rPr>
              <a:t>Teams · Outlook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3675887"/>
            <a:ext cx="2578608" cy="138988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0976" y="3877056"/>
            <a:ext cx="12070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6696" y="3886200"/>
            <a:ext cx="11155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KICKOFF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" y="440740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Tool A/B health
Q1 링크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66160" y="3675887"/>
            <a:ext cx="2578608" cy="138988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767328" y="3877056"/>
            <a:ext cx="12070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13048" y="3886200"/>
            <a:ext cx="11155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RESPONSES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7328" y="440740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각 질문
지표 ≥1 · 링크 ≥2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82512" y="3675887"/>
            <a:ext cx="2578608" cy="138988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583680" y="3877056"/>
            <a:ext cx="12070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29400" y="3886200"/>
            <a:ext cx="11155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RUN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40740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pass / partial / blocked
조치 로그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98864" y="3675887"/>
            <a:ext cx="2578608" cy="138988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00032" y="3877056"/>
            <a:ext cx="12070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45752" y="3886200"/>
            <a:ext cx="11155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BRIEFING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00032" y="4407408"/>
            <a:ext cx="217627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111827"/>
                </a:solidFill>
                <a:latin typeface="Arial"/>
              </a:rPr>
              <a:t>요약 · 근거 · 조치
출처 링크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81328" y="5431536"/>
            <a:ext cx="9235440" cy="62179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55648" y="5596128"/>
            <a:ext cx="162763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AFC4FF"/>
                </a:solidFill>
                <a:latin typeface="Arial"/>
              </a:rPr>
              <a:t>DELIVERY GATE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5541264"/>
            <a:ext cx="685800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FFFFFF"/>
                </a:solidFill>
                <a:latin typeface="Arial"/>
              </a:rPr>
              <a:t>strict FAIL → 자동 발송 중단  ·  PARTIAL → 경고 + 수동 검토  ·  복구 후 재실행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Track3 Overview</dc:title>
  <dc:subject>FoundryIQ orchestration and evidence-grounded response evaluation</dc:subject>
  <dc:creator>Data Platform Workshop</dc:creator>
  <cp:keywords>FabricIQ, WorkIQ, FoundryIQ, 3-IQ workshop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