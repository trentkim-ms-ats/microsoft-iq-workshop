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notesMasterIdLst>
    <ns0:notesMasterId ns1:id="rId4"/>
  </ns0:notesMasterIdLst>
  <ns0:sldIdLst>
    <ns0:sldId id="256" ns1:id="rId2"/>
    <ns0:sldId id="257" ns1:id="rId3"/>
  </ns0:sldIdLst>
  <ns0:sldSz cx="9144000" cy="5143500"/>
  <ns0:notesSz cx="5143500" cy="9144000"/>
  <ns0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3-IQ Workshop Integrated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Track1 FabricIQ -&gt; Track2 WorkIQ -&gt; Track3 FoundryIQ (execution-ready operating model)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310896"/>
          </a:xfrm>
          <a:prstGeom prst="roundRect">
            <a:avLst>
              <a:gd name="adj" fmla="val 11765"/>
            </a:avLst>
          </a:prstGeom>
          <a:solidFill>
            <a:srgbClr val="DCE6F7"/>
          </a:solidFill>
          <a:ln w="12700">
            <a:solidFill>
              <a:srgbClr val="C5D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33272"/>
            <a:ext cx="8183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controls: Security/ACL | Data lineage | Observability | Prompt guardrails | Compliance logging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20240" cy="299923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17320"/>
            <a:ext cx="1920240" cy="676656"/>
          </a:xfrm>
          <a:prstGeom prst="roundRect">
            <a:avLst>
              <a:gd name="adj" fmla="val 6757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18488"/>
            <a:ext cx="164592" cy="164592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17904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Domain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466344" y="2212848"/>
            <a:ext cx="162763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ERP/CRM transactions</a:t>
            </a:r>
            <a:endParaRPr lang="en-US" sz="940" dirty="0"/>
          </a:p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and support events</a:t>
            </a:r>
            <a:endParaRPr lang="en-US" sz="940" dirty="0"/>
          </a:p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collaboration artifacts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514600" y="1417320"/>
            <a:ext cx="1920240" cy="299923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417320"/>
            <a:ext cx="1920240" cy="676656"/>
          </a:xfrm>
          <a:prstGeom prst="roundRect">
            <a:avLst>
              <a:gd name="adj" fmla="val 675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618488"/>
            <a:ext cx="164592" cy="164592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517904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Track1 - FabricIQ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Foundation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660904" y="2212848"/>
            <a:ext cx="162763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data model</a:t>
            </a:r>
            <a:endParaRPr lang="en-US" sz="940" dirty="0"/>
          </a:p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contract (entities/relations)</a:t>
            </a:r>
            <a:endParaRPr lang="en-US" sz="940" dirty="0"/>
          </a:p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validation + handoff package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709160" y="1417320"/>
            <a:ext cx="1920240" cy="299923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417320"/>
            <a:ext cx="1920240" cy="676656"/>
          </a:xfrm>
          <a:prstGeom prst="roundRect">
            <a:avLst>
              <a:gd name="adj" fmla="val 67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618488"/>
            <a:ext cx="164592" cy="164592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1517904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Track2 - WorkIQ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Intelligence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855464" y="2212848"/>
            <a:ext cx="162763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SP/OD/Outlook/Teams indexing</a:t>
            </a:r>
            <a:endParaRPr lang="en-US" sz="940" dirty="0"/>
          </a:p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links + ACL trimming</a:t>
            </a:r>
            <a:endParaRPr lang="en-US" sz="940" dirty="0"/>
          </a:p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8 items, &gt;=6 pass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903720" y="1417320"/>
            <a:ext cx="1920240" cy="299923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BD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417320"/>
            <a:ext cx="1920240" cy="676656"/>
          </a:xfrm>
          <a:prstGeom prst="roundRect">
            <a:avLst>
              <a:gd name="adj" fmla="val 675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1618488"/>
            <a:ext cx="164592" cy="164592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1517904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Track3 - FoundryIQ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7050024" y="2212848"/>
            <a:ext cx="162763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A+B routing and fusion</a:t>
            </a:r>
            <a:endParaRPr lang="en-US" sz="940" dirty="0"/>
          </a:p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policy (5/10/20 x3)</a:t>
            </a:r>
            <a:endParaRPr lang="en-US" sz="940" dirty="0"/>
          </a:p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response with actions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2267712" y="2679192"/>
            <a:ext cx="182880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2679192"/>
            <a:ext cx="182880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56832" y="2679192"/>
            <a:ext cx="182880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94176" y="3959352"/>
            <a:ext cx="1389888" cy="210312"/>
          </a:xfrm>
          <a:prstGeom prst="roundRect">
            <a:avLst>
              <a:gd name="adj" fmla="val 17391"/>
            </a:avLst>
          </a:prstGeom>
          <a:solidFill>
            <a:srgbClr val="FFF3CD"/>
          </a:solidFill>
          <a:ln w="12700">
            <a:solidFill>
              <a:srgbClr val="E8D0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9896" y="4023360"/>
            <a:ext cx="12984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TRACK2_HANDOFF_PACKAGE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888736" y="3959352"/>
            <a:ext cx="1389888" cy="210312"/>
          </a:xfrm>
          <a:prstGeom prst="roundRect">
            <a:avLst>
              <a:gd name="adj" fmla="val 17391"/>
            </a:avLst>
          </a:prstGeom>
          <a:solidFill>
            <a:srgbClr val="FFF3CD"/>
          </a:solidFill>
          <a:ln w="12700">
            <a:solidFill>
              <a:srgbClr val="E8D0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34456" y="4023360"/>
            <a:ext cx="12984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TRACK3_HANDOFF_PACKAGE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320040" y="4517136"/>
            <a:ext cx="850392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663440"/>
            <a:ext cx="8183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Executive brief + traceable evidence + prioritized action backlog</a:t>
            </a:r>
            <a:endParaRPr lang="en-US" sz="10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Runtime Orchestration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47548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question intake to policy-compliant response generation and audit logging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658368"/>
          </a:xfrm>
          <a:prstGeom prst="roundRect">
            <a:avLst>
              <a:gd name="adj" fmla="val 4167"/>
            </a:avLst>
          </a:prstGeom>
          <a:solidFill>
            <a:srgbClr val="F8FAFD"/>
          </a:solidFill>
          <a:ln w="12700">
            <a:solidFill>
              <a:srgbClr val="CDD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607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Request Intake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320040" y="1655064"/>
            <a:ext cx="8503920" cy="658368"/>
          </a:xfrm>
          <a:prstGeom prst="roundRect">
            <a:avLst>
              <a:gd name="adj" fmla="val 4167"/>
            </a:avLst>
          </a:prstGeom>
          <a:solidFill>
            <a:srgbClr val="F8FAFD"/>
          </a:solidFill>
          <a:ln w="12700">
            <a:solidFill>
              <a:srgbClr val="CDD8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55064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874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Orchestrator / Router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8503920" cy="658368"/>
          </a:xfrm>
          <a:prstGeom prst="roundRect">
            <a:avLst>
              <a:gd name="adj" fmla="val 4167"/>
            </a:avLst>
          </a:prstGeom>
          <a:solidFill>
            <a:srgbClr val="F8FAFD"/>
          </a:solidFill>
          <a:ln w="12700">
            <a:solidFill>
              <a:srgbClr val="CDD8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46888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6883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Tool A: FabricIQ metrics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20040" y="3282696"/>
            <a:ext cx="8503920" cy="658368"/>
          </a:xfrm>
          <a:prstGeom prst="roundRect">
            <a:avLst>
              <a:gd name="adj" fmla="val 4167"/>
            </a:avLst>
          </a:prstGeom>
          <a:solidFill>
            <a:srgbClr val="F8FAFD"/>
          </a:solidFill>
          <a:ln w="12700">
            <a:solidFill>
              <a:srgbClr val="CDD8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282696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5021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Tool B: WorkIQ evidence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320040" y="4096512"/>
            <a:ext cx="8503920" cy="658368"/>
          </a:xfrm>
          <a:prstGeom prst="roundRect">
            <a:avLst>
              <a:gd name="adj" fmla="val 4167"/>
            </a:avLst>
          </a:prstGeom>
          <a:solidFill>
            <a:srgbClr val="F8FAFD"/>
          </a:solidFill>
          <a:ln w="12700">
            <a:solidFill>
              <a:srgbClr val="CDD8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4096512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315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Policy + Evaluation + Audit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423160" y="987552"/>
            <a:ext cx="1325880" cy="347472"/>
          </a:xfrm>
          <a:prstGeom prst="roundRect">
            <a:avLst>
              <a:gd name="adj" fmla="val 7895"/>
            </a:avLst>
          </a:prstGeom>
          <a:solidFill>
            <a:srgbClr val="EAF0FA"/>
          </a:solidFill>
          <a:ln w="12700">
            <a:solidFill>
              <a:srgbClr val="BFCD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106070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Q1/Q2/Q3 input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3886200" y="1801368"/>
            <a:ext cx="1600200" cy="347472"/>
          </a:xfrm>
          <a:prstGeom prst="roundRect">
            <a:avLst>
              <a:gd name="adj" fmla="val 7895"/>
            </a:avLst>
          </a:prstGeom>
          <a:solidFill>
            <a:srgbClr val="EAF0FA"/>
          </a:solidFill>
          <a:ln w="12700">
            <a:solidFill>
              <a:srgbClr val="BFCD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50208" y="1874520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classify + route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5669280" y="2615184"/>
            <a:ext cx="1783080" cy="347472"/>
          </a:xfrm>
          <a:prstGeom prst="roundRect">
            <a:avLst>
              <a:gd name="adj" fmla="val 7895"/>
            </a:avLst>
          </a:prstGeom>
          <a:solidFill>
            <a:srgbClr val="EAF0FA"/>
          </a:solidFill>
          <a:ln w="12700">
            <a:solidFill>
              <a:srgbClr val="BFCD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33288" y="2688336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metrics + DQ checks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5669280" y="3429000"/>
            <a:ext cx="1783080" cy="347472"/>
          </a:xfrm>
          <a:prstGeom prst="roundRect">
            <a:avLst>
              <a:gd name="adj" fmla="val 7895"/>
            </a:avLst>
          </a:prstGeom>
          <a:solidFill>
            <a:srgbClr val="EAF0FA"/>
          </a:solidFill>
          <a:ln w="12700">
            <a:solidFill>
              <a:srgbClr val="BFC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3288" y="350215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evidence + ACL trim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7589520" y="1801368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DDEAFE"/>
          </a:solidFill>
          <a:ln w="12700">
            <a:solidFill>
              <a:srgbClr val="BFCD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53528" y="187452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results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589520" y="4242816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EAF0FA"/>
          </a:solidFill>
          <a:ln w="12700">
            <a:solidFill>
              <a:srgbClr val="BFCD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431596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5/10/20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8732520" y="4242816"/>
            <a:ext cx="868680" cy="347472"/>
          </a:xfrm>
          <a:prstGeom prst="roundRect">
            <a:avLst>
              <a:gd name="adj" fmla="val 7895"/>
            </a:avLst>
          </a:prstGeom>
          <a:solidFill>
            <a:srgbClr val="EAF0FA"/>
          </a:solidFill>
          <a:ln w="12700">
            <a:solidFill>
              <a:srgbClr val="BFCD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96528" y="4315968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log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8732520" y="987552"/>
            <a:ext cx="868680" cy="347472"/>
          </a:xfrm>
          <a:prstGeom prst="roundRect">
            <a:avLst>
              <a:gd name="adj" fmla="val 7895"/>
            </a:avLst>
          </a:prstGeom>
          <a:solidFill>
            <a:srgbClr val="D7F5E6"/>
          </a:solidFill>
          <a:ln w="12700">
            <a:solidFill>
              <a:srgbClr val="BFCD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96528" y="1060704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3758184" y="1161288"/>
            <a:ext cx="109728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754880" y="2148840"/>
            <a:ext cx="868680" cy="41148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754880" y="2148840"/>
            <a:ext cx="868680" cy="123444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24928" y="2788920"/>
            <a:ext cx="128016" cy="-621792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424928" y="3602736"/>
            <a:ext cx="128016" cy="-1435608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595360" y="1975104"/>
            <a:ext cx="109728" cy="-630936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138160" y="2148840"/>
            <a:ext cx="0" cy="205740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686800" y="4416552"/>
            <a:ext cx="36576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423160" y="4736592"/>
            <a:ext cx="6263640" cy="219456"/>
          </a:xfrm>
          <a:prstGeom prst="roundRect">
            <a:avLst>
              <a:gd name="adj" fmla="val 12500"/>
            </a:avLst>
          </a:prstGeom>
          <a:solidFill>
            <a:srgbClr val="FFF3CD"/>
          </a:solidFill>
          <a:ln w="12700">
            <a:solidFill>
              <a:srgbClr val="E9D08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23744" y="4800600"/>
            <a:ext cx="6053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runtime gates: evidence validity | traceability completeness | policy-compliant warnings for partial output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3-IQ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3-IQ Workshop Architecture</dc:title>
  <dc:subject>Presentation architecture</dc:subject>
  <dc:creator>3-IQ Workshop Prep Team</dc:creator>
  <cp:lastModifiedBy>3-IQ Workshop Prep Team</cp:lastModifiedBy>
  <cp:revision>1</cp:revision>
  <dcterms:created xsi:type="dcterms:W3CDTF">2026-07-13T18:21:45Z</dcterms:created>
  <dcterms:modified xsi:type="dcterms:W3CDTF">2026-07-13T18:21:45Z</dcterms:modified>
</cp:coreProperties>
</file>