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3D7DF"/>
                </a:solidFill>
                <a:latin typeface="Aptos"/>
              </a:rPr>
              <a:t>TRACK 4 · FOUNDRYIQ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고객 Foundry 전제의 운영형 AI 통합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3D7DF"/>
                </a:solidFill>
                <a:latin typeface="Aptos"/>
              </a:rPr>
              <a:t>직접 모델 구축은 범위에서 제외하고, Foundry 내 라우팅·평가·거버넌스 운영에 집중합니다.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3383280" cy="1920240"/>
          </a:xfrm>
          <a:prstGeom prst="roundRect">
            <a:avLst/>
          </a:prstGeom>
          <a:solidFill>
            <a:srgbClr val="313740"/>
          </a:solidFill>
          <a:ln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60분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7490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3D7DF"/>
                </a:solidFill>
                <a:latin typeface="Aptos"/>
              </a:rPr>
              <a:t>워크숍 압축 트랙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926080"/>
            <a:ext cx="3383280" cy="1920240"/>
          </a:xfrm>
          <a:prstGeom prst="roundRect">
            <a:avLst/>
          </a:prstGeom>
          <a:solidFill>
            <a:srgbClr val="313740"/>
          </a:solidFill>
          <a:ln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3개 근거 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7490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3D7DF"/>
                </a:solidFill>
                <a:latin typeface="Aptos"/>
              </a:rPr>
              <a:t>Fabric · Work ·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926080"/>
            <a:ext cx="3383280" cy="1920240"/>
          </a:xfrm>
          <a:prstGeom prst="roundRect">
            <a:avLst/>
          </a:prstGeom>
          <a:solidFill>
            <a:srgbClr val="313740"/>
          </a:solidFill>
          <a:ln>
            <a:solidFill>
              <a:srgbClr val="555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7" y="32461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N개 모델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37490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3D7DF"/>
                </a:solidFill>
                <a:latin typeface="Aptos"/>
              </a:rPr>
              <a:t>Foundry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50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D3D7DF"/>
                </a:solidFill>
                <a:latin typeface="Aptos"/>
              </a:rPr>
              <a:t>Outcome: 신뢰 가능한 근거 기반 응답 + 경고 + 실행 조치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24852"/>
                </a:solidFill>
                <a:latin typeface="Aptos"/>
              </a:rPr>
              <a:t>SCOPE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1B22"/>
                </a:solidFill>
                <a:latin typeface="Aptos"/>
              </a:rPr>
              <a:t>Foundry 활용 범위와 제외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개발 복잡도를 줄이고 운영 가치가 큰 영역에만 시간을 집중합니다.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24852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623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5257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포함 (DO)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5"/>
            <a:ext cx="525780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Foundry 내 모델 선택 및 라우팅
• Prompt/Policy/Guardrail 운영
• 근거 결합 및 품질 평가
• 승인 기반 전달(Teams/Outlook)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3035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39696"/>
            <a:ext cx="493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제외 (DON’T)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42615"/>
            <a:ext cx="4937759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자체 LLM 사전학습/파인튜닝 구축
• 모델 Serving 인프라 직접 운영
• 벡터DB/게이트웨이 직접 개발
• 실험성 생성 이미지 의존 데모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Source: track4/WORKBOOK.md · 운영 범위 재정의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24852"/>
                </a:solidFill>
                <a:latin typeface="Aptos"/>
              </a:rPr>
              <a:t>MODEL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1B22"/>
                </a:solidFill>
                <a:latin typeface="Aptos"/>
              </a:rPr>
              <a:t>모델은 3개 고정이 아니라 Foundry Catalog 전체에서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업무 질문 성격에 따라 비용·속도·추론력 기준으로 다중 모델 전략을 적용합니다.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2485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7033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Core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5"/>
            <a:ext cx="3337560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GPT 계열
• Phi 계열
• Llama 계열
기본 3종은 출발점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920240"/>
            <a:ext cx="37033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39696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확장 가능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42615"/>
            <a:ext cx="3337560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Mistral
• Cohere
• 기타 Foundry 제공 모델
신규 모델 즉시 실험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920240"/>
            <a:ext cx="33375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2139696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선택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642615"/>
            <a:ext cx="2971800" cy="2551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정확도/근거 일관성
• 지연시간/처리량
• 토큰 비용
• 보안/컴플라이언스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Message: 고객은 Foundry 사용 중이므로 모델 옵션은 지속 확장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24852"/>
                </a:solidFill>
                <a:latin typeface="Aptos"/>
              </a:rPr>
              <a:t>ORCHESTRATION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1B22"/>
                </a:solidFill>
                <a:latin typeface="Aptos"/>
              </a:rPr>
              <a:t>세 근거 소스를 Foundry에서 결합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소스 책임을 유지한 채 단일 응답 스키마로 병합합니다.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2485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7373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45059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4734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39"/>
            <a:ext cx="137160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질문 분해
semanticKeys 정규화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04288" y="3337560"/>
            <a:ext cx="137160" cy="201168"/>
          </a:xfrm>
          <a:prstGeom prst="rightArrow">
            <a:avLst/>
          </a:prstGeom>
          <a:solidFill>
            <a:srgbClr val="424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50592" y="2286000"/>
            <a:ext cx="17373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5184" y="245059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24734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788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3472" y="3291839"/>
            <a:ext cx="137160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FabricIQ
정형 지표 + sourceTrace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06240" y="3337560"/>
            <a:ext cx="137160" cy="201168"/>
          </a:xfrm>
          <a:prstGeom prst="rightArrow">
            <a:avLst/>
          </a:prstGeom>
          <a:solidFill>
            <a:srgbClr val="424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2544" y="2286000"/>
            <a:ext cx="17373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17136" y="245059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24734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788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291839"/>
            <a:ext cx="137160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WorkIQ
내부 근거 + ACL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108192" y="3337560"/>
            <a:ext cx="137160" cy="201168"/>
          </a:xfrm>
          <a:prstGeom prst="rightArrow">
            <a:avLst/>
          </a:prstGeom>
          <a:solidFill>
            <a:srgbClr val="424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4496" y="2286000"/>
            <a:ext cx="17373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19088" y="245059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24734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2788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291839"/>
            <a:ext cx="137160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WebIQ
외부 citation + 한계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010144" y="3337560"/>
            <a:ext cx="137160" cy="201168"/>
          </a:xfrm>
          <a:prstGeom prst="rightArrow">
            <a:avLst/>
          </a:prstGeom>
          <a:solidFill>
            <a:srgbClr val="424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6448" y="2286000"/>
            <a:ext cx="17373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21040" y="245059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4734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788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291839"/>
            <a:ext cx="137160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Foundry Merge
경고/누락 명시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912096" y="3337560"/>
            <a:ext cx="137160" cy="201168"/>
          </a:xfrm>
          <a:prstGeom prst="rightArrow">
            <a:avLst/>
          </a:prstGeom>
          <a:solidFill>
            <a:srgbClr val="424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058400" y="2286000"/>
            <a:ext cx="17373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222992" y="245059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22992" y="247345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27889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291839"/>
            <a:ext cx="137160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Strict Evaluate
PASS/PARTIAL/BLOCKED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6692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61B22"/>
                </a:solidFill>
                <a:latin typeface="Aptos"/>
              </a:rPr>
              <a:t>원칙: 어떤 소스도 다른 소스의 사실을 대체하지 않음 (책임 분리 유지)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Source: AGENTS.md adapter 계약 · track4/data/README.md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24852"/>
                </a:solidFill>
                <a:latin typeface="Aptos"/>
              </a:rPr>
              <a:t>RUNTIME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1B22"/>
                </a:solidFill>
                <a:latin typeface="Aptos"/>
              </a:rPr>
              <a:t>같은 정책, 다른 입력 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Simulation과 Live를 분리해 학습 안정성과 운영 신뢰성을 동시에 확보합니다.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2485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5778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52120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42615"/>
            <a:ext cx="5212079" cy="2596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교육·리허설·회귀 테스트
• fixture 기반 반복 실행
• 키 없이 재현 가능
• 실제 연결 성공을 의미하지 않음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92024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139696"/>
            <a:ext cx="493775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42615"/>
            <a:ext cx="4937759" cy="2596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• 실제 Foundry/데이터 소스 연결
• 권한·정책·현재성 검증
• 오류/제한을 응답에 노출
• 승인 후 전달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Source: AGENTS.md 실행 모드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24852"/>
                </a:solidFill>
                <a:latin typeface="Aptos"/>
              </a:rPr>
              <a:t>FALLBACK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1B22"/>
                </a:solidFill>
                <a:latin typeface="Aptos"/>
              </a:rPr>
              <a:t>실패를 숨기지 않는 상태 기반 응답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부분 성공을 정상 성공으로 위장하지 않고, 복구 가능한 조치까지 함께 제공합니다.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2485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35915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8201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46120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세 소스 정상
근거 완전성 충족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3712" y="235915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38201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PARTIAL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246120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일부 소스 실패
제한 범위 + 경고 노출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611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94192" y="2359152"/>
            <a:ext cx="384048" cy="27432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38201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97480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3246120" cy="11247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핵심 근거 부재
응답 중단 + 복구 지시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1109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74336"/>
            <a:ext cx="10744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Retry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77256"/>
            <a:ext cx="10744200" cy="219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5s → 10s → 20s 재시도 후에도 실패면 BLOCKED로 판정하고 원인/다음 조치를 기록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Source: AGENTS.md fallback 정책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24852"/>
                </a:solidFill>
                <a:latin typeface="Aptos"/>
              </a:rPr>
              <a:t>DELIVERY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1B22"/>
                </a:solidFill>
                <a:latin typeface="Aptos"/>
              </a:rPr>
              <a:t>최종 전달 전 승인·품질 게이트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06070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6370"/>
                </a:solidFill>
                <a:latin typeface="Aptos"/>
              </a:rPr>
              <a:t>Foundry 응답은 생성 즉시 전송하지 않고 운영 게이트를 통과한 결과만 전달합니다.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20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42485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31136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근거 유효성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34056"/>
            <a:ext cx="5120640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sourceTrace, 링크, citation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31136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정책 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734056"/>
            <a:ext cx="5120640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ACL/금칙어/민감정보 가드레일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6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응답 등급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7136"/>
            <a:ext cx="5120640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PASS/PARTIAL/BLOCKED 일치성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794760"/>
            <a:ext cx="54864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14216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2"/>
                </a:solidFill>
                <a:latin typeface="Aptos"/>
              </a:rPr>
              <a:t>사람 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17136"/>
            <a:ext cx="5120640" cy="67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C6370"/>
                </a:solidFill>
                <a:latin typeface="Aptos"/>
              </a:rPr>
              <a:t>PARTIAL은 수동 검토 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370"/>
                </a:solidFill>
                <a:latin typeface="Aptos"/>
              </a:rPr>
              <a:t>Delivery Policy: FAIL/BLOCKED 자동 발송 금지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2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3D7DF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Foundry 전제 고객을 위한 실행 메시지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402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CEFF4"/>
                </a:solidFill>
                <a:latin typeface="Aptos"/>
              </a:rPr>
              <a:t>■ 직접 모델 구축 없이도 Foundry에서 즉시 운영 가능한 통합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8152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CEFF4"/>
                </a:solidFill>
                <a:latin typeface="Aptos"/>
              </a:rPr>
              <a:t>■ 모델은 3개 고정이 아니라 Foundry Catalog 전체로 확장 가능한 선택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22776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ECEFF4"/>
                </a:solidFill>
                <a:latin typeface="Aptos"/>
              </a:rPr>
              <a:t>■ 핵심은 “많이 생성”이 아니라 “근거와 정책이 검증된 전달”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440680"/>
            <a:ext cx="10789920" cy="548640"/>
          </a:xfrm>
          <a:prstGeom prst="rect">
            <a:avLst/>
          </a:prstGeom>
          <a:solidFill>
            <a:srgbClr val="313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ECEFF4"/>
                </a:solidFill>
                <a:latin typeface="Aptos"/>
              </a:rPr>
              <a:t>Next: 질문 유형별 모델 라우팅 룰(비용·속도·정확도)만 정의하면 바로 PoC 운영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