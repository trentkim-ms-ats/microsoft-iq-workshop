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3891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C451"/>
                </a:solidFill>
                <a:latin typeface="Aptos"/>
              </a:rPr>
              <a:t>ARCHITECTURE EDITION ·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5097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Microsoft IQ Workshop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46504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9D1E2"/>
                </a:solidFill>
                <a:latin typeface="Aptos"/>
              </a:rPr>
              <a:t>FabricIQ 정형 신뢰성, WorkIQ 권한 기반 업무 근거, WebIQ 공개 웹 citation,
FoundryIQ 결합·평가를 하나의 실행 가능한 워크숍으로 연결합니다.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3063240"/>
            <a:ext cx="2487168" cy="960120"/>
          </a:xfrm>
          <a:prstGeom prst="roundRect">
            <a:avLst/>
          </a:prstGeom>
          <a:solidFill>
            <a:srgbClr val="1B2842"/>
          </a:solidFill>
          <a:ln w="12700">
            <a:solidFill>
              <a:srgbClr val="2B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323697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600분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0273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C9DA"/>
                </a:solidFill>
                <a:latin typeface="Aptos"/>
              </a:rPr>
              <a:t>권장 2일 학습 여정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063240"/>
            <a:ext cx="2487168" cy="960120"/>
          </a:xfrm>
          <a:prstGeom prst="roundRect">
            <a:avLst/>
          </a:prstGeom>
          <a:solidFill>
            <a:srgbClr val="1B2842"/>
          </a:solidFill>
          <a:ln w="12700">
            <a:solidFill>
              <a:srgbClr val="2B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23697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4 Tracks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60273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C9DA"/>
                </a:solidFill>
                <a:latin typeface="Aptos"/>
              </a:rPr>
              <a:t>Fabric · Work · Web ·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3063240"/>
            <a:ext cx="2487168" cy="960120"/>
          </a:xfrm>
          <a:prstGeom prst="roundRect">
            <a:avLst/>
          </a:prstGeom>
          <a:solidFill>
            <a:srgbClr val="1B2842"/>
          </a:solidFill>
          <a:ln w="12700">
            <a:solidFill>
              <a:srgbClr val="2B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323697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 Handoffs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360273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C9DA"/>
                </a:solidFill>
                <a:latin typeface="Aptos"/>
              </a:rPr>
              <a:t>책임별 입력 계약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3063240"/>
            <a:ext cx="2487168" cy="960120"/>
          </a:xfrm>
          <a:prstGeom prst="roundRect">
            <a:avLst/>
          </a:prstGeom>
          <a:solidFill>
            <a:srgbClr val="1B2842"/>
          </a:solidFill>
          <a:ln w="12700">
            <a:solidFill>
              <a:srgbClr val="2B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3236976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602736"/>
            <a:ext cx="2121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C9DA"/>
                </a:solidFill>
                <a:latin typeface="Aptos"/>
              </a:rPr>
              <a:t>수치 + 내부/외부 근거 + 조치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489204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919472"/>
            <a:ext cx="10643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Ontology = 네 구성요소가 같은 비즈니스 대상을 가리키는 공통 어휘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8406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D97706"/>
                </a:solidFill>
                <a:latin typeface="Aptos"/>
              </a:rPr>
              <a:t>TRACK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465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C879B"/>
                </a:solidFill>
                <a:latin typeface="Aptos"/>
              </a:rPr>
              <a:t>Microsoft IQ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7C879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네 구성요소 Microsoft IQ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FoundryIQ가 질문을 라우팅하고 FabricIQ, WorkIQ, WebIQ가 책임별 근거를 제공합니다.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AGENTS.md · integrated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029968"/>
            <a:ext cx="2578608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2194560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22656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56032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FabricIQ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063240"/>
            <a:ext cx="217627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Lakehouse 정형 데이터
Ontology 관계 경로
검증 가능한 KPI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5536" y="3383280"/>
            <a:ext cx="219456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0128" y="2029968"/>
            <a:ext cx="2578608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2194560"/>
            <a:ext cx="438912" cy="256032"/>
          </a:xfrm>
          <a:prstGeom prst="roundRect">
            <a:avLst/>
          </a:prstGeom>
          <a:solidFill>
            <a:srgbClr val="15966A"/>
          </a:solidFill>
          <a:ln w="1270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2656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56032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WorkIQ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063240"/>
            <a:ext cx="217627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SharePoint · OneDrive
Outlook · Teams
ACL 적용 내부 근거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25312" y="3383280"/>
            <a:ext cx="219456" cy="219456"/>
          </a:xfrm>
          <a:prstGeom prst="rightArrow">
            <a:avLst/>
          </a:prstGeom>
          <a:solidFill>
            <a:srgbClr val="1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2029968"/>
            <a:ext cx="2578608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4496" y="2194560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22656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56032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WebIQ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063240"/>
            <a:ext cx="217627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공개 웹 citation
관찰 시각 · scope
factStatus · limitations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05088" y="3383280"/>
            <a:ext cx="219456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2029968"/>
            <a:ext cx="2578608" cy="3154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2194560"/>
            <a:ext cx="438912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2" y="222656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56032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FoundryIQ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063240"/>
            <a:ext cx="217627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Tool A/B/C 라우팅
정책 결합 · 평가
브리핑 + 조치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50992"/>
            <a:ext cx="10817352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678424"/>
            <a:ext cx="10488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공통 semantic keys · Campaign · Product · Customer · Order · Payment · Shipment · 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RESPONSIBILITY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책임과 금지 경계를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근거 없는 대체를 허용하지 않는 것이 Microsoft IQ 품질 계약의 핵심입니다.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AGENTS.md · track1–4 workbooks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2578608" cy="425196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FabricIQ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2176272" cy="3364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책임 · 정형 KPI와 Ontology
금지 · 문서에서 수치 역산
증명 · 기준값 · lineage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828800"/>
            <a:ext cx="2578608" cy="4251960"/>
          </a:xfrm>
          <a:prstGeom prst="roundRect">
            <a:avLst/>
          </a:prstGeom>
          <a:solidFill>
            <a:srgbClr val="E9F7F1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WorkIQ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560320"/>
            <a:ext cx="2176272" cy="3364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책임 · ACL 적용 내부 검색
금지 · 공개 웹을 내부 근거로 사용
증명 · original link ·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828800"/>
            <a:ext cx="2578608" cy="4251960"/>
          </a:xfrm>
          <a:prstGeom prst="roundRect">
            <a:avLst/>
          </a:prstGeom>
          <a:solidFill>
            <a:srgbClr val="F1EB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WebIQ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560320"/>
            <a:ext cx="2176272" cy="3364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책임 · 공개 URL citation
금지 · 출처 없는 최신 사실·내부 원인 단정
증명 · scope · 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828800"/>
            <a:ext cx="2578608" cy="425196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FoundryIQ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560320"/>
            <a:ext cx="2176272" cy="3364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책임 · 라우팅·결합·평가
금지 · 숫자·링크·인과 생성
증명 · sourceTrace · warnings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TRACK 1 · FABRICIQ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정형 데이터에서 AI 친화적 Ontology까지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참가자는 P1 탐지 쿼리 대신 데이터 구조·품질 개념·표준화 영향·의미 경로를 이해합니다.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track1/WORKBOOK.md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057400"/>
            <a:ext cx="1993392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2221992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2539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587752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090672"/>
            <a:ext cx="159105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778"/>
                </a:solidFill>
                <a:latin typeface="Aptos"/>
              </a:rPr>
              <a:t>Q1–Q5
질문–테이블 연결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51176" y="3383280"/>
            <a:ext cx="164592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2057400"/>
            <a:ext cx="1993392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07792" y="2221992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22539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587752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Orientation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090672"/>
            <a:ext cx="159105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778"/>
                </a:solidFill>
                <a:latin typeface="Aptos"/>
              </a:rPr>
              <a:t>14개 테이블
품질 개념과 영향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64024" y="3383280"/>
            <a:ext cx="164592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56048" y="2057400"/>
            <a:ext cx="1993392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2221992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2539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587752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표준화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090672"/>
            <a:ext cx="159105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778"/>
                </a:solidFill>
                <a:latin typeface="Aptos"/>
              </a:rPr>
              <a:t>키 · 타입 · 코드
날짜 · 통화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76872" y="3383280"/>
            <a:ext cx="164592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68896" y="2057400"/>
            <a:ext cx="1993392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33488" y="2221992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22539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2587752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Ontology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3090672"/>
            <a:ext cx="159105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778"/>
                </a:solidFill>
                <a:latin typeface="Aptos"/>
              </a:rPr>
              <a:t>14 엔터티
20 관계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189720" y="3383280"/>
            <a:ext cx="164592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2057400"/>
            <a:ext cx="1993392" cy="2971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46336" y="2221992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6336" y="225399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2587752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172033"/>
                </a:solidFill>
                <a:latin typeface="Aptos"/>
              </a:rPr>
              <a:t>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3090672"/>
            <a:ext cx="1591056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778"/>
                </a:solidFill>
                <a:latin typeface="Aptos"/>
              </a:rPr>
              <a:t>3단 매핑
의미 경로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77840"/>
            <a:ext cx="10817352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605272"/>
            <a:ext cx="10488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TRACK2 HANDOFF · Workspace/Ontology IDs · 핵심 경로 · Entity 매핑 · 검색 키 · 구현 제한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TRACK 2 · WORKIQ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M365 업무 근거와 크로스 소스 품질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같은 Ontology 키로 4대 M365 소스를 찾고 ACL·원본 링크·품질 점수를 FoundryIQ에 전달합니다.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track2/WORKBOOK.md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3493008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57400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SharePoint ·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30906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기획서 · 리포트 · 플레이북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828800"/>
            <a:ext cx="3493008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057400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Outlook ·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560320"/>
            <a:ext cx="30906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리더십 메일 · 이슈 · 의사결정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828800"/>
            <a:ext cx="3493008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057400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Teams · 18 / 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560320"/>
            <a:ext cx="30906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CS · 재고 · 물류 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913631"/>
            <a:ext cx="3493008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4142231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OneDrive ·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645151"/>
            <a:ext cx="30906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회의록 · 브리핑 · 정책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3913631"/>
            <a:ext cx="3493008" cy="182880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4142231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QUALITY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645151"/>
            <a:ext cx="30906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정확성 · 완전성 · 일관성 · 유효성
중복성 · 참조무결성 · 적시성 · 추적성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3913631"/>
            <a:ext cx="3493008" cy="182880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4142231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FOUNDRY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4645151"/>
            <a:ext cx="30906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인덱스 · 품질 점수
근거 링크 5건 · 재현 질의 3개
live ACL 증적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TRACK 3 · WEBIQ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공개 웹 최신 근거를 citation 계약으로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기존 시나리오와 데이터를 바꾸지 않고 외부에서 확인할 수 있는 질문만 안전하게 분리합니다.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track3/WORKBOOK.md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93392"/>
            <a:ext cx="2578608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2157984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8998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523744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Safe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026664"/>
            <a:ext cx="2176272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D6778"/>
                </a:solidFill>
                <a:latin typeface="Aptos"/>
              </a:rPr>
              <a:t>민감 정보 제거
공개 확인 범위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5536" y="3520440"/>
            <a:ext cx="219456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0128" y="1993392"/>
            <a:ext cx="2578608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2157984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8998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523744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026664"/>
            <a:ext cx="2176272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D6778"/>
                </a:solidFill>
                <a:latin typeface="Aptos"/>
              </a:rPr>
              <a:t>Web Search 또는 fixture
citation ≥2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25312" y="3520440"/>
            <a:ext cx="219456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93392"/>
            <a:ext cx="2578608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54496" y="2157984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18998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10분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523744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026664"/>
            <a:ext cx="2176272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D6778"/>
                </a:solidFill>
                <a:latin typeface="Aptos"/>
              </a:rPr>
              <a:t>권위 · 현재성
scope · factStatus
limitations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05088" y="3520440"/>
            <a:ext cx="219456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1993392"/>
            <a:ext cx="2578608" cy="3337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2157984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272" y="218998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523744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026664"/>
            <a:ext cx="2176272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D6778"/>
                </a:solidFill>
                <a:latin typeface="Aptos"/>
              </a:rPr>
              <a:t>WEBIQ_HANDOFF_PACKAGE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69280"/>
            <a:ext cx="10817352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696712"/>
            <a:ext cx="10488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WebIQ는 공개 사실을 제공하며 WorkIQ 내부 근거나 FabricIQ 정형 수치를 대체하지 않음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TRACK 4 · FOUNDRYIQ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런타임 오케스트레이션과 응답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세 도구를 호출하고 소스 책임을 보존한 채 최종 문장, 경고, 조치안을 만듭니다.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track4/WORKBOOK.md · track4/data/README.md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3493008" cy="1847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57400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scenarioId · question
semanticKeys[]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828800"/>
            <a:ext cx="3493008" cy="1847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2057400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TOOL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560320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FabricIQ
metrics · sourceTrace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828800"/>
            <a:ext cx="3493008" cy="1847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057400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TOOL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560320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WorkIQ
links · ACL ·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950208"/>
            <a:ext cx="3493008" cy="1847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4178808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TOOL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681728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WebIQ
citations · scope ·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3950208"/>
            <a:ext cx="3493008" cy="1847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4178808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681728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근거 책임 보존
warnings ·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3950208"/>
            <a:ext cx="3493008" cy="1847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4178808"/>
            <a:ext cx="30906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72033"/>
                </a:solidFill>
                <a:latin typeface="Aptos"/>
              </a:rP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4681728"/>
            <a:ext cx="3090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5D6778"/>
                </a:solidFill>
                <a:latin typeface="Aptos"/>
              </a:rPr>
              <a:t>PASS · PARTIAL · BLOCKED
strict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EXECUTION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simulation과 live는 같은 정책, 다른 증거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simulation은 교육·회귀용 reference harness이며 실제 서비스 연결 성공을 의미하지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AGENTS.md 실행 모드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5394960" cy="3520440"/>
          </a:xfrm>
          <a:prstGeom prst="roundRect">
            <a:avLst/>
          </a:prstGeom>
          <a:solidFill>
            <a:srgbClr val="F1EB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993392"/>
            <a:ext cx="54864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25395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교육·회귀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35915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ptos"/>
              </a:rPr>
              <a:t>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862072"/>
            <a:ext cx="499262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오프라인 재현
Track1 CSV · Track2 manifest
Track3 WebIQ fixture
동일 response schema · 동일 strict evaluator
실제 ACL·네트워크·현재성 미증명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28800"/>
            <a:ext cx="5394960" cy="352044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64224" y="1993392"/>
            <a:ext cx="658368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025395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승인된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915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ptos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62072"/>
            <a:ext cx="4992624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실제 연결 검증
FabricIQ adapter · WorkIQ adapter
Foundry Web Search
권한·URL·관찰 시각 확인
오류와 제한을 명시적으로 표면화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669280"/>
            <a:ext cx="10817352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696712"/>
            <a:ext cx="10488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ptos"/>
              </a:rPr>
              <a:t>공통 통제 · sourceTrace 분리 · 5s → 10s → 20s · 부분응답 경고 · release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RESILIENCE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소스별 fallback 상태 머신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오류를 숨기지 않고 신뢰 가능한 범위만 제공한 뒤 복구 후 같은 질문으로 재평가합니다.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AGENTS.md fallback 정책 · track4/WORKBOOK.md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3529584" cy="1554480"/>
          </a:xfrm>
          <a:prstGeom prst="roundRect">
            <a:avLst/>
          </a:prstGeom>
          <a:solidFill>
            <a:srgbClr val="E9F7F1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993392"/>
            <a:ext cx="438912" cy="256032"/>
          </a:xfrm>
          <a:prstGeom prst="roundRect">
            <a:avLst/>
          </a:prstGeom>
          <a:solidFill>
            <a:srgbClr val="15966A"/>
          </a:solidFill>
          <a:ln w="1270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2539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35915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862072"/>
            <a:ext cx="31272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세 근거 정상
수치 + 내부 링크 + 외부 citation + 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1828800"/>
            <a:ext cx="3529584" cy="155448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1993392"/>
            <a:ext cx="768096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025395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35915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fabric-down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862072"/>
            <a:ext cx="31272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정형 수치 미검증
남은 근거만 제한 제공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828800"/>
            <a:ext cx="3529584" cy="155448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993392"/>
            <a:ext cx="768096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025395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35915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work-down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862072"/>
            <a:ext cx="31272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내부 업무 근거 없음
수치 + 공개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75887"/>
            <a:ext cx="3529584" cy="155448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" y="3840479"/>
            <a:ext cx="768096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872483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20624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web-down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4709159"/>
            <a:ext cx="31272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현재 외부 확인 없음
수치 + 내부 근거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1104" y="3675887"/>
            <a:ext cx="3529584" cy="1554480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3840479"/>
            <a:ext cx="768096" cy="256032"/>
          </a:xfrm>
          <a:prstGeom prst="roundRect">
            <a:avLst/>
          </a:prstGeom>
          <a:solidFill>
            <a:srgbClr val="BE3455"/>
          </a:solidFill>
          <a:ln w="1270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3872483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BLOCKED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20624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internal-down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709159"/>
            <a:ext cx="31272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웹만으로 내부 원인 분석 금지
최종 답변 중단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3675887"/>
            <a:ext cx="3529584" cy="1554480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56448" y="3840479"/>
            <a:ext cx="768096" cy="256032"/>
          </a:xfrm>
          <a:prstGeom prst="roundRect">
            <a:avLst/>
          </a:prstGeom>
          <a:solidFill>
            <a:srgbClr val="BE3455"/>
          </a:solidFill>
          <a:ln w="1270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3872483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BLOCKED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206240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"/>
              </a:rPr>
              <a:t>all-down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4709159"/>
            <a:ext cx="312724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5D6778"/>
                </a:solidFill>
                <a:latin typeface="Aptos"/>
              </a:rPr>
              <a:t>복구 조치만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WORKSHOP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600분 권장 학습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입문자는 기존 480분 기반을 먼저 경험한 뒤 WebIQ와 네 구성요소 통합을 추가합니다.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Microsoft_IQ_Workshop_Integrated_Plan_v3.0.md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5394960" cy="3566160"/>
          </a:xfrm>
          <a:prstGeom prst="roundRect">
            <a:avLst/>
          </a:prstGeom>
          <a:solidFill>
            <a:srgbClr val="EAF1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57400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Aptos"/>
              </a:rPr>
              <a:t>DAY 1 · 480분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4992624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원본 Microsoft IQ 베이스라인
오프닝 · 개념
Track1 FabricIQ · 150분
Track2 WorkIQ · 110분
기존 FoundryIQ 심화 경로
통합 프로젝트 · 리뷰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394960" cy="3566160"/>
          </a:xfrm>
          <a:prstGeom prst="roundRect">
            <a:avLst/>
          </a:prstGeom>
          <a:solidFill>
            <a:srgbClr val="F1EB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Aptos"/>
              </a:rPr>
              <a:t>DAY 2 · 120분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992624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778"/>
                </a:solidFill>
                <a:latin typeface="Aptos"/>
              </a:rPr>
              <a:t>WebIQ-enabled Microsoft IQ
복습 · 책임 분리 · 10분
Track3 WebIQ · 45분
Track4 네 구성요소 통합 · 45분
비교 · 발표 · 20분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87568"/>
            <a:ext cx="10817352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715000"/>
            <a:ext cx="10488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Aptos"/>
              </a:rPr>
              <a:t>선택 운영 · 1일 압축형 480분 · Track1 150 → Track2 110 → Track3 35 → Track4 60 → 프로젝트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OPERATIONS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재현 가능한 실행·평가·자동화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데이터, manifest, fixture, 스크립트, evaluator가 같은 계약으로 회귀 가능한 파이프라인을 구성합니다.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AGENTS.md · track4/data/README.md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103120"/>
            <a:ext cx="1645920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2267712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29971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633472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136391"/>
            <a:ext cx="1243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수동 · cron
승인된 일정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03704" y="3401568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86584" y="2103120"/>
            <a:ext cx="1645920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1176" y="2267712"/>
            <a:ext cx="438912" cy="256032"/>
          </a:xfrm>
          <a:prstGeom prst="roundRect">
            <a:avLst/>
          </a:prstGeom>
          <a:solidFill>
            <a:srgbClr val="15966A"/>
          </a:solidFill>
          <a:ln w="1270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1176" y="229971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2633472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3136391"/>
            <a:ext cx="1243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Q1–Q3
세 입력 계약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59935" y="3401568"/>
            <a:ext cx="146304" cy="182880"/>
          </a:xfrm>
          <a:prstGeom prst="rightArrow">
            <a:avLst/>
          </a:prstGeom>
          <a:solidFill>
            <a:srgbClr val="1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42816" y="2103120"/>
            <a:ext cx="1645920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7" y="2267712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7" y="229971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3" y="2633472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3136391"/>
            <a:ext cx="1243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simulation/live
Tool A/B/C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16168" y="3401568"/>
            <a:ext cx="146304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99048" y="2103120"/>
            <a:ext cx="1645920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2267712"/>
            <a:ext cx="438912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9971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633472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3136391"/>
            <a:ext cx="1243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strict evaluator
상태·경고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772400" y="3401568"/>
            <a:ext cx="146304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55279" y="2103120"/>
            <a:ext cx="1645920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9871" y="2267712"/>
            <a:ext cx="438912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1" y="229971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633472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Brief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3136391"/>
            <a:ext cx="1243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근거·조치
리더십 브리핑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628632" y="3401568"/>
            <a:ext cx="146304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11511" y="2103120"/>
            <a:ext cx="1645920" cy="2926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76103" y="2267712"/>
            <a:ext cx="438912" cy="256032"/>
          </a:xfrm>
          <a:prstGeom prst="roundRect">
            <a:avLst/>
          </a:prstGeom>
          <a:solidFill>
            <a:srgbClr val="BE3455"/>
          </a:solidFill>
          <a:ln w="1270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6103" y="2299715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633472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72033"/>
                </a:solidFill>
                <a:latin typeface="Aptos"/>
              </a:rPr>
              <a:t>Notify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3136391"/>
            <a:ext cx="12435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사람 승인 후
Teams/Outlook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596128"/>
            <a:ext cx="10817352" cy="4297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" y="5623560"/>
            <a:ext cx="104881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ptos"/>
              </a:rPr>
              <a:t>DELIVERY GATE · strict FAIL → 발송 중단 · PARTIAL → 경고 + 수동 검토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END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참가자가 마지막에 증명해야 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아키텍처 설명에서 끝나지 않고 실행 결과와 근거로 네 구성요소의 책임을 증명합니다.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track1–4 workbooks · integrated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828800"/>
            <a:ext cx="2578608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FabricIQ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60320"/>
            <a:ext cx="2176272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5D6778"/>
                </a:solidFill>
                <a:latin typeface="Aptos"/>
              </a:rPr>
              <a:t>이 수치는 어떤 엔터티·관계·속성에서 계산됐는가?
기준값 · semantic path · mapping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828800"/>
            <a:ext cx="2578608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WorkIQ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560320"/>
            <a:ext cx="2176272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5D6778"/>
                </a:solidFill>
                <a:latin typeface="Aptos"/>
              </a:rPr>
              <a:t>이 내부 근거는 누가 볼 수 있고 원문은 어디에 있는가?
ACL · source coverage · original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828800"/>
            <a:ext cx="2578608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WebIQ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560320"/>
            <a:ext cx="2176272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5D6778"/>
                </a:solidFill>
                <a:latin typeface="Aptos"/>
              </a:rPr>
              <a:t>이 공개 사실은 언제·어디에 적용되며 한계는 무엇인가?
URL · observedAt · scope · 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828800"/>
            <a:ext cx="2578608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2057400"/>
            <a:ext cx="21762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033"/>
                </a:solidFill>
                <a:latin typeface="Aptos"/>
              </a:rPr>
              <a:t>FoundryIQ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560320"/>
            <a:ext cx="2176272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5D6778"/>
                </a:solidFill>
                <a:latin typeface="Aptos"/>
              </a:rPr>
              <a:t>세 소스를 어떻게 결합했고 실패 시 무엇을 제한했는가?
sourceTrace · warnings · strict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